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152144"/>
            <a:ext cx="7223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0A0A0A"/>
                </a:solidFill>
                <a:latin typeface="Helvetica Neue"/>
              </a:rPr>
              <a:t>From Full-File Review to Exception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953512"/>
            <a:ext cx="6766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C1C1C"/>
                </a:solidFill>
                <a:latin typeface="Helvetica Neue"/>
              </a:rPr>
              <a:t>A proposal for Farnsworth: AI-assisted survey quality that reduces PM review time while strengthening data-quality assurance across Decipher cleaning, open-end QA, and the PM exception workflow.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206240"/>
            <a:ext cx="192024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480560"/>
            <a:ext cx="4663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Prepared by Opulent for Farnsworth  -  June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1051560"/>
            <a:ext cx="324612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1417320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CORE SIGNAL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1737360"/>
            <a:ext cx="2651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A0A0A"/>
                </a:solidFill>
                <a:latin typeface="Helvetica Neue"/>
              </a:rPr>
              <a:t>Survey quality becomes</a:t>
            </a:r>
          </a:p>
          <a:p>
            <a:pPr algn="l">
              <a:spcAft>
                <a:spcPts val="0"/>
              </a:spcAft>
            </a:pPr>
            <a:r>
              <a:rPr sz="1900" b="1">
                <a:solidFill>
                  <a:srgbClr val="0A0A0A"/>
                </a:solidFill>
                <a:latin typeface="Helvetica Neue"/>
              </a:rPr>
              <a:t>a trusted, repeatable</a:t>
            </a:r>
          </a:p>
          <a:p>
            <a:pPr algn="l">
              <a:spcAft>
                <a:spcPts val="0"/>
              </a:spcAft>
            </a:pPr>
            <a:r>
              <a:rPr sz="1900" b="1">
                <a:solidFill>
                  <a:srgbClr val="0A0A0A"/>
                </a:solidFill>
                <a:latin typeface="Helvetica Neue"/>
              </a:rPr>
              <a:t>workflow.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200400"/>
            <a:ext cx="2606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Helvetica Neue"/>
              </a:rPr>
              <a:t>Review every respondent, surface only the exceptions, and attach evidence to every call - so PMs decide faster and stand behind the result.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138928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0A0A0A"/>
                </a:solidFill>
                <a:latin typeface="Helvetica Neue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5733288"/>
            <a:ext cx="1463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35353"/>
                </a:solidFill>
                <a:latin typeface="Helvetica Neue"/>
              </a:rPr>
              <a:t>recommended exclusions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138928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0A0A0A"/>
                </a:solidFill>
                <a:latin typeface="Helvetica Neue"/>
              </a:rPr>
              <a:t>1,036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59" y="5733288"/>
            <a:ext cx="1463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35353"/>
                </a:solidFill>
                <a:latin typeface="Helvetica Neue"/>
              </a:rPr>
              <a:t>sample respondents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5138928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0A0A0A"/>
                </a:solidFill>
                <a:latin typeface="Helvetica Neue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5733288"/>
            <a:ext cx="1463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35353"/>
                </a:solidFill>
                <a:latin typeface="Helvetica Neue"/>
              </a:rPr>
              <a:t>delivery options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EXECUTIVE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A0A0A"/>
                </a:solidFill>
                <a:latin typeface="Helvetica Neue"/>
              </a:rPr>
              <a:t>Delivering a trusted survey-quality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057400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7" y="2057400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The current GPT flags poor-quality respondents, but PMs still re-review the file because open-end judgment is not trusted enough for company-wide adoption.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715768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7" y="2715768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The model is not the differentiator - the calibrated, auditable workflow around it 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374136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7" y="3374136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PMs should review only respondents that truly need judgment, each with a reason, confidence level, and recommended action.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032504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4032504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The goal is to cut PM labor, preserve or improve quality, and keep bad respondents out of client deliverables.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1828800"/>
            <a:ext cx="338328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214884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THE GOAL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468880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Helvetica Neue"/>
              </a:rPr>
              <a:t>Exception review,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Helvetica Neue"/>
              </a:rPr>
              <a:t>not full-file review.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02336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Helvetica Neue"/>
              </a:rPr>
              <a:t>The target is a system that reviews everyone, flags only the exceptions, and gets sharper from PM overrides.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THE CHALLENGE 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0A0A"/>
                </a:solidFill>
                <a:latin typeface="Helvetica Neue"/>
              </a:rPr>
              <a:t>Today's cleaning runs through Decipher, ChatGPT, and a full PM 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697480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971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Field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42900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Surveys are fielded in Decipher during active fielding.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2697480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2971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Download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42900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PMs download the respondent data file from Decipher.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2697480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2971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Upload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342900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The file is uploaded to ChatGPT for quality screening.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544" y="2697480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544" y="2971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Annotate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342900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ChatGPT returns an annotated version flagging issues.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1936" y="2697480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31936" y="2971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1936" y="342900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PMs review the whole file to confirm nothing was missed.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120640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THE BOTTLENECK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074920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PMs spend 1+ hour reviewing the AI output to confirm it caught every poor-quality respondent, and they do this a few times a week on batches of roughly 50-200.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556248"/>
            <a:ext cx="10515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35353"/>
                </a:solidFill>
                <a:latin typeface="Helvetica Neue"/>
              </a:rPr>
              <a:t>Source: customer-provided process notes/email; validate exact baseline during Discovery.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SAMPLE FILE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A0A0A"/>
                </a:solidFill>
                <a:latin typeface="Helvetica Neue"/>
              </a:rPr>
              <a:t>Your sample file: 1,036 respondents and 0 recommended exclusions.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182880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Helvetica Neue"/>
              </a:rPr>
              <a:t>The current workflow can surface signals, but it stops short of trusted decision support.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97180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A0A0A"/>
                </a:solidFill>
                <a:latin typeface="Helvetica Neue"/>
              </a:rPr>
              <a:t>1,036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0"/>
            <a:ext cx="1508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535353"/>
                </a:solidFill>
                <a:latin typeface="Helvetica Neue"/>
              </a:rPr>
              <a:t>REVIEWED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0048" y="297180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A0A0A"/>
                </a:solidFill>
                <a:latin typeface="Helvetica Neue"/>
              </a:rPr>
              <a:t>988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3840480"/>
            <a:ext cx="1508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535353"/>
                </a:solidFill>
                <a:latin typeface="Helvetica Neue"/>
              </a:rPr>
              <a:t>KEEP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41448" y="3127248"/>
            <a:ext cx="9144" cy="1005840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297180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A0A0A"/>
                </a:solidFill>
                <a:latin typeface="Helvetica Neue"/>
              </a:rPr>
              <a:t>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3840480"/>
            <a:ext cx="1508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535353"/>
                </a:solidFill>
                <a:latin typeface="Helvetica Neue"/>
              </a:rPr>
              <a:t>LIGHT REVIEW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53128" y="3127248"/>
            <a:ext cx="9144" cy="1005840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297180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A0A0A"/>
                </a:solidFill>
                <a:latin typeface="Helvetica Neue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840480"/>
            <a:ext cx="1508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535353"/>
                </a:solidFill>
                <a:latin typeface="Helvetica Neue"/>
              </a:rPr>
              <a:t>REVIEW CLOSELY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64808" y="3127248"/>
            <a:ext cx="9144" cy="1005840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05088" y="297180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A0A0A"/>
                </a:solidFill>
                <a:latin typeface="Helvetica Neue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8" y="3840480"/>
            <a:ext cx="1508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535353"/>
                </a:solidFill>
                <a:latin typeface="Helvetica Neue"/>
              </a:rPr>
              <a:t>DELETE / EXCLUDE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76488" y="3127248"/>
            <a:ext cx="9144" cy="1005840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983480"/>
            <a:ext cx="2103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THE ADOPTION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892040"/>
            <a:ext cx="7680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1C1C1C"/>
                </a:solidFill>
                <a:latin typeface="Helvetica Neue"/>
              </a:rPr>
              <a:t>The AI flagged 785 respondents on open-ends - 557 at moderate-or-higher concern - yet recommended zero exclusions. PMs are left to reconcile 'look harder, cut none' by hand.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556248"/>
            <a:ext cx="10515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35353"/>
                </a:solidFill>
                <a:latin typeface="Helvetica Neue"/>
              </a:rPr>
              <a:t>Source: sample file analysis; keep/remove decisions and flag counts should be recalculated for each new client.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WHY BAD DATA GETS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0A0A"/>
                </a:solidFill>
                <a:latin typeface="Helvetica Neue"/>
              </a:rPr>
              <a:t>Why bad data gets in - and why a static GPT cannot keep it out.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1783080"/>
            <a:ext cx="5074920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1783080"/>
            <a:ext cx="5074920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2103120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Helvetica Neue"/>
              </a:rPr>
              <a:t>THE FRAUD PROBLEM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2423160"/>
            <a:ext cx="438912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1C1C1C"/>
                </a:solidFill>
                <a:latin typeface="Helvetica Neue"/>
              </a:rPr>
              <a:t>Bad actors take surveys to earn the incentive, not answer honestly.</a:t>
            </a:r>
          </a:p>
          <a:p>
            <a:pPr algn="l">
              <a:spcAft>
                <a:spcPts val="0"/>
              </a:spcAft>
            </a:pPr>
            <a:r>
              <a:rPr sz="1030" b="0">
                <a:solidFill>
                  <a:srgbClr val="1C1C1C"/>
                </a:solidFill>
                <a:latin typeface="Helvetica Neue"/>
              </a:rPr>
              <a:t>They impersonate the target profile.</a:t>
            </a:r>
          </a:p>
          <a:p>
            <a:pPr algn="l">
              <a:spcAft>
                <a:spcPts val="0"/>
              </a:spcAft>
            </a:pPr>
            <a:r>
              <a:rPr sz="1030" b="0">
                <a:solidFill>
                  <a:srgbClr val="1C1C1C"/>
                </a:solidFill>
                <a:latin typeface="Helvetica Neue"/>
              </a:rPr>
              <a:t>They speed, straightline, and duplicate entries.</a:t>
            </a:r>
          </a:p>
          <a:p>
            <a:pPr algn="l">
              <a:spcAft>
                <a:spcPts val="0"/>
              </a:spcAft>
            </a:pPr>
            <a:r>
              <a:rPr sz="1030" b="0">
                <a:solidFill>
                  <a:srgbClr val="1C1C1C"/>
                </a:solidFill>
                <a:latin typeface="Helvetica Neue"/>
              </a:rPr>
              <a:t>They increasingly use AI to generate plausible open-ends.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572000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  <a:latin typeface="Helvetica Neue"/>
              </a:rPr>
              <a:t>This is where fraud is hardest to judge and where trust breaks down.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103120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A0A0A"/>
                </a:solidFill>
                <a:latin typeface="Helvetica Neue"/>
              </a:rPr>
              <a:t>STATIC GPT ANNOTATES; AGENTS DECIDE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423160"/>
            <a:ext cx="43891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1C1C1C"/>
                </a:solidFill>
                <a:latin typeface="Helvetica Neue"/>
              </a:rPr>
              <a:t>Today's GPT uses heuristic open-end tells that AI-assisted fraud can defeat. It recommends little or nothing, so PMs re-read everything.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980" b="0">
                <a:solidFill>
                  <a:srgbClr val="1C1C1C"/>
                </a:solidFill>
                <a:latin typeface="Helvetica Neue"/>
              </a:rPr>
              <a:t>The agentic approach reviews every respondent across all signals, cross-checks claimed identity, attaches quoted evidence and confidence, routes exceptions to PMs, and learns from overrides.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532120"/>
            <a:ext cx="10789920" cy="502920"/>
          </a:xfrm>
          <a:prstGeom prst="rect">
            <a:avLst/>
          </a:prstGeom>
          <a:solidFill>
            <a:srgbClr val="F6F6F6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650992"/>
            <a:ext cx="1005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A0A0A"/>
                </a:solidFill>
                <a:latin typeface="Helvetica Neue"/>
              </a:rPr>
              <a:t>OUTCOME: Catch more real fraud, trust the call, and review only what needs a human.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WHAT TO EXPECT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A0A0A"/>
                </a:solidFill>
                <a:latin typeface="Helvetica Neue"/>
              </a:rPr>
              <a:t>PM review shifts from re-reading the full file to a focused pass on respondents that need judgment.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057400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7" y="2057400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PMs review far fewer respondents because low-risk cases auto-clear.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624328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7" y="2624328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Open-end review becomes evidence-backed: quoted text, reason, and confidence.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191256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7" y="3191256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Exclusion decisions become more consistent across PMs.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758183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3758183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Each run produces a defensible audit trail.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25112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7" y="4325112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Because cleaning runs a few times a week, per-cycle overhead drops every week, not once.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2057400"/>
            <a:ext cx="338328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237744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SUCCESS 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743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Helvetica Neue"/>
              </a:rPr>
              <a:t>Interim batches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0632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Move PM review toward a focused exception pass; set the reduction target in Discovery.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160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Helvetica Neue"/>
              </a:rPr>
              <a:t>Final closeout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48056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Clean data, exclusion log, and summary PMs can approve with minimal rework.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HOW WE MEASURE SUCCESS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0A0A"/>
                </a:solidFill>
                <a:latin typeface="Helvetica Neue"/>
              </a:rPr>
              <a:t>Four dimensions define a successful pilot.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1920240"/>
            <a:ext cx="46177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2194560"/>
            <a:ext cx="50292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42316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Labor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78892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Target: review-time reduction set in Discovery. Phase 1 establishes the real baseline.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9007" y="1920240"/>
            <a:ext cx="46177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94560"/>
            <a:ext cx="50292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242316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Quality &amp; 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78892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AI/PM agreement by flag type, override rate, false negatives, and false positives.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749039"/>
            <a:ext cx="46177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4023359"/>
            <a:ext cx="50292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251959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Adoption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Company-wide adoption - the goal the current GPT never reached because it was too slow and not trusted.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79007" y="3749039"/>
            <a:ext cx="46177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4023359"/>
            <a:ext cx="50292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4251959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Client defensibility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461772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C1C"/>
                </a:solidFill>
                <a:latin typeface="Helvetica Neue"/>
              </a:rPr>
              <a:t>Data quality as a differentiator the customer can stand behind with clients.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TECHNICAL OVERVIEW / SURVEY FRAUD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7680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A0A0A"/>
                </a:solidFill>
                <a:latin typeface="Helvetica Neue"/>
              </a:rPr>
              <a:t>Construct agents that convert subtle survey fraud signals into evidence-backed exception 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160020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35353"/>
                </a:solidFill>
                <a:latin typeface="Helvetica Neue"/>
              </a:rPr>
              <a:t>Objective: protect deliverables by catching patterns humans miss at scale while moving PMs from full-file re-review to a prioritized queue.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331720"/>
            <a:ext cx="192024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2606040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E6F68"/>
                </a:solidFill>
                <a:latin typeface="Helvetica Neue"/>
              </a:rPr>
              <a:t>INPUTS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283464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0A0A"/>
                </a:solidFill>
                <a:latin typeface="Helvetica Neue"/>
              </a:rPr>
              <a:t>Survey evidence 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3520440"/>
            <a:ext cx="1508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535353"/>
                </a:solidFill>
                <a:latin typeface="Helvetica Neue"/>
              </a:rPr>
              <a:t>Decipher export + datamap</a:t>
            </a:r>
          </a:p>
          <a:p>
            <a:pPr algn="l">
              <a:spcAft>
                <a:spcPts val="0"/>
              </a:spcAft>
            </a:pPr>
            <a:r>
              <a:rPr sz="819" b="0">
                <a:solidFill>
                  <a:srgbClr val="535353"/>
                </a:solidFill>
                <a:latin typeface="Helvetica Neue"/>
              </a:rPr>
              <a:t>Likert batteries</a:t>
            </a:r>
          </a:p>
          <a:p>
            <a:pPr algn="l">
              <a:spcAft>
                <a:spcPts val="0"/>
              </a:spcAft>
            </a:pPr>
            <a:r>
              <a:rPr sz="819" b="0">
                <a:solidFill>
                  <a:srgbClr val="535353"/>
                </a:solidFill>
                <a:latin typeface="Helvetica Neue"/>
              </a:rPr>
              <a:t>Open-end verbatims</a:t>
            </a:r>
          </a:p>
          <a:p>
            <a:pPr algn="l">
              <a:spcAft>
                <a:spcPts val="0"/>
              </a:spcAft>
            </a:pPr>
            <a:r>
              <a:rPr sz="819" b="0">
                <a:solidFill>
                  <a:srgbClr val="535353"/>
                </a:solidFill>
                <a:latin typeface="Helvetica Neue"/>
              </a:rPr>
              <a:t>Timing, device, IP, 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2148840"/>
            <a:ext cx="502920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2377440"/>
            <a:ext cx="4389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E6F68"/>
                </a:solidFill>
                <a:latin typeface="Helvetica Neue"/>
              </a:rPr>
              <a:t>SPECIALIST FRAUD-AGENT ENSEMBLE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265176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535353"/>
                </a:solidFill>
                <a:latin typeface="Helvetica Neue"/>
              </a:rPr>
              <a:t>Each agent produces a normalized suspicion score and evidence fields for PM review.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3063240"/>
            <a:ext cx="2057400" cy="530352"/>
          </a:xfrm>
          <a:prstGeom prst="rect">
            <a:avLst/>
          </a:prstGeom>
          <a:solidFill>
            <a:srgbClr val="EAF2EF"/>
          </a:solidFill>
          <a:ln w="10160">
            <a:solidFill>
              <a:srgbClr val="EA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3191256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Helvetica Neue"/>
              </a:rPr>
              <a:t>Response Pattern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4107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60" b="0">
                <a:solidFill>
                  <a:srgbClr val="535353"/>
                </a:solidFill>
                <a:latin typeface="Helvetica Neue"/>
              </a:rPr>
              <a:t>Straightlining, acquiescence, effort.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3063240"/>
            <a:ext cx="2057400" cy="530352"/>
          </a:xfrm>
          <a:prstGeom prst="rect">
            <a:avLst/>
          </a:prstGeom>
          <a:solidFill>
            <a:srgbClr val="E8EEF6"/>
          </a:solidFill>
          <a:ln w="1016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3191256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Helvetica Neue"/>
              </a:rPr>
              <a:t>Longitudinal / Panel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341071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60" b="0">
                <a:solidFill>
                  <a:srgbClr val="535353"/>
                </a:solidFill>
                <a:latin typeface="Helvetica Neue"/>
              </a:rPr>
              <a:t>Contradictions, velocity, fatigue.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3794760"/>
            <a:ext cx="2057400" cy="530352"/>
          </a:xfrm>
          <a:prstGeom prst="rect">
            <a:avLst/>
          </a:prstGeom>
          <a:solidFill>
            <a:srgbClr val="F4E5D9"/>
          </a:solidFill>
          <a:ln w="10160">
            <a:solidFill>
              <a:srgbClr val="F4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3922776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Helvetica Neue"/>
              </a:rPr>
              <a:t>Demographic Plausibility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14223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60" b="0">
                <a:solidFill>
                  <a:srgbClr val="535353"/>
                </a:solidFill>
                <a:latin typeface="Helvetica Neue"/>
              </a:rPr>
              <a:t>Profile vs. behavior checks.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3794760"/>
            <a:ext cx="2057400" cy="530352"/>
          </a:xfrm>
          <a:prstGeom prst="rect">
            <a:avLst/>
          </a:prstGeom>
          <a:solidFill>
            <a:srgbClr val="EAF2EF"/>
          </a:solidFill>
          <a:ln w="10160">
            <a:solidFill>
              <a:srgbClr val="EA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3922776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Helvetica Neue"/>
              </a:rPr>
              <a:t>Verbatim Integrity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414223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60" b="0">
                <a:solidFill>
                  <a:srgbClr val="535353"/>
                </a:solidFill>
                <a:latin typeface="Helvetica Neue"/>
              </a:rPr>
              <a:t>Near-duplicates, AI-like text.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4526280"/>
            <a:ext cx="4297680" cy="530352"/>
          </a:xfrm>
          <a:prstGeom prst="rect">
            <a:avLst/>
          </a:prstGeom>
          <a:solidFill>
            <a:srgbClr val="E8EEF6"/>
          </a:solidFill>
          <a:ln w="1016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4654296"/>
            <a:ext cx="4069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Helvetica Neue"/>
              </a:rPr>
              <a:t>Real-Time Calibration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4873752"/>
            <a:ext cx="40690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60" b="0">
                <a:solidFill>
                  <a:srgbClr val="535353"/>
                </a:solidFill>
                <a:latin typeface="Helvetica Neue"/>
              </a:rPr>
              <a:t>Dynamic thresholds by study type.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41080" y="2331720"/>
            <a:ext cx="2697480" cy="2651760"/>
          </a:xfrm>
          <a:prstGeom prst="rect">
            <a:avLst/>
          </a:prstGeom>
          <a:solidFill>
            <a:srgbClr val="17202C"/>
          </a:solidFill>
          <a:ln w="10160">
            <a:solidFill>
              <a:srgbClr val="17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87968" y="2633472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76D0C4"/>
                </a:solidFill>
                <a:latin typeface="Helvetica Neue"/>
              </a:rPr>
              <a:t>DECISIONING LAYER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7968" y="2907792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Helvetica Neue"/>
              </a:rPr>
              <a:t>Risk fusion + action routing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87968" y="3657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8"/>
                </a:solidFill>
                <a:latin typeface="Helvetica Neue"/>
              </a:rPr>
              <a:t>Combine agent scores with calibrated thresholds by study and PM override history.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87968" y="4343400"/>
            <a:ext cx="64008" cy="64008"/>
          </a:xfrm>
          <a:prstGeom prst="rect">
            <a:avLst/>
          </a:prstGeom>
          <a:solidFill>
            <a:srgbClr val="76D0C4"/>
          </a:solidFill>
          <a:ln w="10160">
            <a:solidFill>
              <a:srgbClr val="76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0" y="4297680"/>
            <a:ext cx="19202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Helvetica Neue"/>
              </a:rPr>
              <a:t>Auto-keep: low-risk completes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87968" y="4636008"/>
            <a:ext cx="64008" cy="64008"/>
          </a:xfrm>
          <a:prstGeom prst="rect">
            <a:avLst/>
          </a:prstGeom>
          <a:solidFill>
            <a:srgbClr val="F0A05A"/>
          </a:solidFill>
          <a:ln w="10160">
            <a:solidFill>
              <a:srgbClr val="F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0" y="4590288"/>
            <a:ext cx="19202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Helvetica Neue"/>
              </a:rPr>
              <a:t>Review: ambiguous cases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87968" y="4928616"/>
            <a:ext cx="64008" cy="64008"/>
          </a:xfrm>
          <a:prstGeom prst="rect">
            <a:avLst/>
          </a:prstGeom>
          <a:solidFill>
            <a:srgbClr val="F06060"/>
          </a:solidFill>
          <a:ln w="10160">
            <a:solidFill>
              <a:srgbClr val="F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52560" y="4882896"/>
            <a:ext cx="19202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Helvetica Neue"/>
              </a:rPr>
              <a:t>Exclude: high-confidence fraud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46120" y="5532120"/>
            <a:ext cx="50292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0440" y="5715000"/>
            <a:ext cx="16459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E6F68"/>
                </a:solidFill>
                <a:latin typeface="Helvetica Neue"/>
              </a:rPr>
              <a:t>EVIDENCE CONTRACT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0440" y="5925312"/>
            <a:ext cx="4389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35353"/>
                </a:solidFill>
                <a:latin typeface="Helvetica Neue"/>
              </a:rPr>
              <a:t>For every surfaced respondent: version, triggering answers, cluster, contradiction, confidence band, action.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56248"/>
            <a:ext cx="10515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35353"/>
                </a:solidFill>
                <a:latin typeface="Helvetica Neue"/>
              </a:rPr>
              <a:t>Business alignment: agents reduce missed bad respondents, explain exceptions, and protect legitimate respondents.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HOW WE'D HELP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A0A0A"/>
                </a:solidFill>
                <a:latin typeface="Helvetica Neue"/>
              </a:rPr>
              <a:t>A workflow we build and run for you - Decipher in, review-ready outputs 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743200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0632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Helvetica Neue"/>
              </a:rPr>
              <a:t>Ingest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474720"/>
            <a:ext cx="1325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Read export + datamap -&gt; so no PM setup is needed.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14015" y="2743200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14015" y="30632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Helvetica Neue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5" y="3474720"/>
            <a:ext cx="1325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Rules + open-end AI review everyone -&gt; so quality is checked, not sampled.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9663" y="2743200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9663" y="30632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Helvetica Neue"/>
              </a:rPr>
              <a:t>Recommend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9663" y="3474720"/>
            <a:ext cx="1325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Reason + confidence + evidence -&gt; so decisions are defensible.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5312" y="2743200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5312" y="30632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Helvetica Neue"/>
              </a:rPr>
              <a:t>Route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3474720"/>
            <a:ext cx="1325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Route only exceptions to PMs -&gt; so they review judgment cases.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743200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632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Helvetica Neue"/>
              </a:rPr>
              <a:t>Export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474720"/>
            <a:ext cx="1325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Clean data + log + audit summary -&gt; so closeout is sign-off.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608" y="2743200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608" y="30632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Helvetica Neue"/>
              </a:rPr>
              <a:t>Improve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36608" y="3474720"/>
            <a:ext cx="1325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PM overrides tune thresholds -&gt; so each run sharpens.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349240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PRINCIPLE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530352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Light for the customer to adopt because the infrastructure runs on our 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THE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0A0A"/>
                </a:solidFill>
                <a:latin typeface="Helvetica Neue"/>
              </a:rPr>
              <a:t>Move PMs from full-file review to exception review.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1920240"/>
            <a:ext cx="484632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920240"/>
            <a:ext cx="484632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2240280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TODAY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2606040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Full-file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063240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306324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AI annotates the file.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456432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3456432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PMs re-read everything.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849624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3849624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Trust burden sits with PMs.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242816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2728" y="4242816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Logs assembled by hand.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240280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TARGET STATE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606040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Exception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063240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306324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Agents cross-check identity, behavior, and open-ends.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456432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3456432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PMs review only exceptions.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849624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849624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Evidence + confidence on each call.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242816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4242816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Overrides feed the loop.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349240"/>
            <a:ext cx="10332720" cy="411480"/>
          </a:xfrm>
          <a:prstGeom prst="rect">
            <a:avLst/>
          </a:prstGeom>
          <a:solidFill>
            <a:srgbClr val="F6F6F6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" y="5458968"/>
            <a:ext cx="9784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Helvetica Neue"/>
              </a:rPr>
              <a:t>LOOP: PM overrides feed the system so each run gets sharper and cheaper than the last.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IMPLEMENTATION OPTIONS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0A0A"/>
                </a:solidFill>
                <a:latin typeface="Helvetica Neue"/>
              </a:rPr>
              <a:t>Three ways to deliver it - from lightest to most scalable.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011680"/>
            <a:ext cx="306324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33172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651760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A0A0A"/>
                </a:solidFill>
                <a:latin typeface="Helvetica Neue"/>
              </a:rPr>
              <a:t>Email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429000"/>
            <a:ext cx="2514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You send the export; we return an email summary with counts, top issues, and high-priority respondents.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3484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0A0A0A"/>
                </a:solidFill>
                <a:latin typeface="Helvetica Neue"/>
              </a:rPr>
              <a:t>Outcome: fastest proof, zero change management.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8808" y="2011680"/>
            <a:ext cx="306324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33172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2651760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A0A0A"/>
                </a:solidFill>
                <a:latin typeface="Helvetica Neue"/>
              </a:rPr>
              <a:t>Enhanced Excel Package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429000"/>
            <a:ext cx="2514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A workbook with a front-tab summary and exception queue. PMs approve or override directly in the file.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43484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0A0A0A"/>
                </a:solidFill>
                <a:latin typeface="Helvetica Neue"/>
              </a:rPr>
              <a:t>Outcome: labor reduction now, in tools PMs already use.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99248" y="2011680"/>
            <a:ext cx="306324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233172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5353"/>
                </a:solidFill>
                <a:latin typeface="Helvetica Neue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2651760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A0A0A"/>
                </a:solidFill>
                <a:latin typeface="Helvetica Neue"/>
              </a:rPr>
              <a:t>Lightweight Review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429000"/>
            <a:ext cx="2514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A review app showing project status, evidence, and approve/override controls.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43484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0A0A0A"/>
                </a:solidFill>
                <a:latin typeface="Helvetica Neue"/>
              </a:rPr>
              <a:t>Outcome: company-wide rollout + override 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440680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RECOMMENDED START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34924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Helvetica Neue"/>
              </a:rPr>
              <a:t>Recommended start: Enhanced Excel + email summary. The payout has three parts we will size with you: incentive leakage, PM labor, and client-trust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THE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0A0A"/>
                </a:solidFill>
                <a:latin typeface="Helvetica Neue"/>
              </a:rPr>
              <a:t>A focused, paid pilot - prove value on real exports, then scale.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331720"/>
            <a:ext cx="288036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6517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35353"/>
                </a:solidFill>
                <a:latin typeface="Helvetica Neue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971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A0A0A"/>
                </a:solidFill>
                <a:latin typeface="Helvetica Neue"/>
              </a:rPr>
              <a:t>Phase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42900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A0A0A"/>
                </a:solidFill>
                <a:latin typeface="Helvetica Neue"/>
              </a:rPr>
              <a:t>Discovery &amp; Baseline POC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749039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35353"/>
                </a:solidFill>
                <a:latin typeface="Helvetica Neue"/>
              </a:rPr>
              <a:t>1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16052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C1C1C"/>
                </a:solidFill>
                <a:latin typeface="Helvetica Neue"/>
              </a:rPr>
              <a:t>Confirm workflow, flag taxonomy, review baseline, and success metrics.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2331720"/>
            <a:ext cx="288036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5968" y="26517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35353"/>
                </a:solidFill>
                <a:latin typeface="Helvetica Neue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2971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A0A0A"/>
                </a:solidFill>
                <a:latin typeface="Helvetica Neue"/>
              </a:rPr>
              <a:t>Phase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342900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A0A0A"/>
                </a:solidFill>
                <a:latin typeface="Helvetica Neue"/>
              </a:rPr>
              <a:t>Workflow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3749039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35353"/>
                </a:solidFill>
                <a:latin typeface="Helvetica Neue"/>
              </a:rPr>
              <a:t>1-2 WEEKS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416052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C1C1C"/>
                </a:solidFill>
                <a:latin typeface="Helvetica Neue"/>
              </a:rPr>
              <a:t>Implement review process, evidence-backed recommendations, and PM-ready outputs.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3568" y="2331720"/>
            <a:ext cx="288036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26517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35353"/>
                </a:solidFill>
                <a:latin typeface="Helvetica Neue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2971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A0A0A"/>
                </a:solidFill>
                <a:latin typeface="Helvetica Neue"/>
              </a:rPr>
              <a:t>Phase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342900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A0A0A"/>
                </a:solidFill>
                <a:latin typeface="Helvetica Neue"/>
              </a:rPr>
              <a:t>Calibration &amp; Impact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3749039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35353"/>
                </a:solidFill>
                <a:latin typeface="Helvetica Neue"/>
              </a:rPr>
              <a:t>1-2 WEEKS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416052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C1C1C"/>
                </a:solidFill>
                <a:latin typeface="Helvetica Neue"/>
              </a:rPr>
              <a:t>Compare recommendations to PM decisions, measure impact, and recommend rollout path.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806440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OBJECTIVE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5760720"/>
            <a:ext cx="8412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Reduce manual review time while preserving or improving respondent-quality standards.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DISCOVERY - TO ALIGN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0A0A"/>
                </a:solidFill>
                <a:latin typeface="Helvetica Neue"/>
              </a:rPr>
              <a:t>Questions we will work through together before drafting the SOW.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011680"/>
            <a:ext cx="461772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230428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Helvetica Neue"/>
              </a:rPr>
              <a:t>Pain &amp; current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2697480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How long does PM review take today?</a:t>
            </a:r>
          </a:p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How many cleaning cycles in a typical week?</a:t>
            </a:r>
          </a:p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How many PMs for adoption?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9007" y="2011680"/>
            <a:ext cx="461772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7" y="230428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Helvetica Neue"/>
              </a:rPr>
              <a:t>Inputs &amp; 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3327" y="2697480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Which export formats should we support?</a:t>
            </a:r>
          </a:p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Is the cycle interim batch, full closeout, or both?</a:t>
            </a:r>
          </a:p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Which output should the pilot target first?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886200"/>
            <a:ext cx="461772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17880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Helvetica Neue"/>
              </a:rPr>
              <a:t>Decision logic &amp; calibration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572000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Where does the keep/remove decision live?</a:t>
            </a:r>
          </a:p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Can you share historical decisions?</a:t>
            </a:r>
          </a:p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What confidence is required for exclusion?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79007" y="3886200"/>
            <a:ext cx="461772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3327" y="417880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Helvetica Neue"/>
              </a:rPr>
              <a:t>Success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7" y="4572000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What review-time reduction makes the pilot a win?</a:t>
            </a:r>
          </a:p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What agreement level builds trust?</a:t>
            </a:r>
          </a:p>
          <a:p>
            <a:pPr algn="l">
              <a:spcAft>
                <a:spcPts val="0"/>
              </a:spcAft>
            </a:pPr>
            <a:r>
              <a:rPr sz="919" b="0">
                <a:solidFill>
                  <a:srgbClr val="1C1C1C"/>
                </a:solidFill>
                <a:latin typeface="Helvetica Neue"/>
              </a:rPr>
              <a:t>What audit output helps you stand behind quality?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POTENTIAL ADD-ONS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0A0A"/>
                </a:solidFill>
                <a:latin typeface="Helvetica Neue"/>
              </a:rPr>
              <a:t>Where this can go after the pilot proves value.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423160"/>
            <a:ext cx="164592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697480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35353"/>
                </a:solidFill>
                <a:latin typeface="Helvetica Neue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0175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A0A0A"/>
                </a:solidFill>
                <a:latin typeface="Helvetica Neue"/>
              </a:rPr>
              <a:t>Pre-field intake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749039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Better screeners before fielding.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5768" y="2423160"/>
            <a:ext cx="164592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15768" y="2697480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35353"/>
                </a:solidFill>
                <a:latin typeface="Helvetica Neue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15768" y="30175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A0A0A"/>
                </a:solidFill>
                <a:latin typeface="Helvetica Neue"/>
              </a:rPr>
              <a:t>Respondent friction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5768" y="3749039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Reduce straightlining, speeding, and fatigue.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73168" y="2423160"/>
            <a:ext cx="164592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2697480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35353"/>
                </a:solidFill>
                <a:latin typeface="Helvetica Neue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30175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A0A0A"/>
                </a:solidFill>
                <a:latin typeface="Helvetica Neue"/>
              </a:rPr>
              <a:t>Decipher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3749039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Scheduled interim review during fielding.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0568" y="2423160"/>
            <a:ext cx="164592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0568" y="2697480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35353"/>
                </a:solidFill>
                <a:latin typeface="Helvetica Neue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0175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A0A0A"/>
                </a:solidFill>
                <a:latin typeface="Helvetica Neue"/>
              </a:rPr>
              <a:t>Client-facing QA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749039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Make quality assurance a sales advantage.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87968" y="2423160"/>
            <a:ext cx="164592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7968" y="2697480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35353"/>
                </a:solidFill>
                <a:latin typeface="Helvetica Neue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7968" y="301752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A0A0A"/>
                </a:solidFill>
                <a:latin typeface="Helvetica Neue"/>
              </a:rPr>
              <a:t>Automated report QA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3749039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1C1C"/>
                </a:solidFill>
                <a:latin typeface="Helvetica Neue"/>
              </a:rPr>
              <a:t>Cut unsupported claims before clients see them.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806440"/>
            <a:ext cx="10058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35353"/>
                </a:solidFill>
                <a:latin typeface="Helvetica Neue"/>
              </a:rPr>
              <a:t>Extend the workflow upstream into intake quality and downstream into reporting only after the pilot earns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COMMITMENT &amp;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8696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A0A0A"/>
                </a:solidFill>
                <a:latin typeface="Helvetica Neue"/>
              </a:rPr>
              <a:t>What we need from you to launch the pilot.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011680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7" y="2011680"/>
            <a:ext cx="5897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Pursue a focused pilot around PM review reduction.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578608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7" y="2578608"/>
            <a:ext cx="5897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Provide representative exports and datamaps.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145536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7" y="3145536"/>
            <a:ext cx="5897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Share final keep/remove decisions or help build a gold-standard 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712464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3712464"/>
            <a:ext cx="5897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Identify one to three PMs to test the workflow.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279392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7" y="4279392"/>
            <a:ext cx="5897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Agree on pilot success metrics before the build begins.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846320"/>
            <a:ext cx="228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Helvetica Neue"/>
              </a:rP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7" y="4846320"/>
            <a:ext cx="5897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C1C1C"/>
                </a:solidFill>
                <a:latin typeface="Helvetica Neue"/>
              </a:rPr>
              <a:t>Stay open to phased rollout if the pilot proves out.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2103120"/>
            <a:ext cx="329184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468880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THE OUTCOME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2834640"/>
            <a:ext cx="2743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Internally: less operational effort and a workflow every PM adopts.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Helvetica Neue"/>
              </a:rPr>
              <a:t>Externally: defensible data quality clients can trust.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Opulent Hairline Grid Line"/>
          <p:cNvCxnSpPr/>
          <p:nvPr/>
        </p:nvCxnSpPr>
        <p:spPr>
          <a:xfrm>
            <a:off x="76198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Opulent Hairline Grid Line"/>
          <p:cNvCxnSpPr/>
          <p:nvPr/>
        </p:nvCxnSpPr>
        <p:spPr>
          <a:xfrm>
            <a:off x="152396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Opulent Hairline Grid Line"/>
          <p:cNvCxnSpPr/>
          <p:nvPr/>
        </p:nvCxnSpPr>
        <p:spPr>
          <a:xfrm>
            <a:off x="228594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Opulent Hairline Grid Line"/>
          <p:cNvCxnSpPr/>
          <p:nvPr/>
        </p:nvCxnSpPr>
        <p:spPr>
          <a:xfrm>
            <a:off x="304792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Opulent Hairline Grid Line"/>
          <p:cNvCxnSpPr/>
          <p:nvPr/>
        </p:nvCxnSpPr>
        <p:spPr>
          <a:xfrm>
            <a:off x="380990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Opulent Hairline Grid Line"/>
          <p:cNvCxnSpPr/>
          <p:nvPr/>
        </p:nvCxnSpPr>
        <p:spPr>
          <a:xfrm>
            <a:off x="4571885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pulent Hairline Grid Line"/>
          <p:cNvCxnSpPr/>
          <p:nvPr/>
        </p:nvCxnSpPr>
        <p:spPr>
          <a:xfrm>
            <a:off x="5333866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Opulent Hairline Grid Line"/>
          <p:cNvCxnSpPr/>
          <p:nvPr/>
        </p:nvCxnSpPr>
        <p:spPr>
          <a:xfrm>
            <a:off x="6095847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Opulent Hairline Grid Line"/>
          <p:cNvCxnSpPr/>
          <p:nvPr/>
        </p:nvCxnSpPr>
        <p:spPr>
          <a:xfrm>
            <a:off x="6857828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pulent Hairline Grid Line"/>
          <p:cNvCxnSpPr/>
          <p:nvPr/>
        </p:nvCxnSpPr>
        <p:spPr>
          <a:xfrm>
            <a:off x="7619809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pulent Hairline Grid Line"/>
          <p:cNvCxnSpPr/>
          <p:nvPr/>
        </p:nvCxnSpPr>
        <p:spPr>
          <a:xfrm>
            <a:off x="8381790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pulent Hairline Grid Line"/>
          <p:cNvCxnSpPr/>
          <p:nvPr/>
        </p:nvCxnSpPr>
        <p:spPr>
          <a:xfrm>
            <a:off x="9143771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pulent Hairline Grid Line"/>
          <p:cNvCxnSpPr/>
          <p:nvPr/>
        </p:nvCxnSpPr>
        <p:spPr>
          <a:xfrm>
            <a:off x="9905752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pulent Hairline Grid Line"/>
          <p:cNvCxnSpPr/>
          <p:nvPr/>
        </p:nvCxnSpPr>
        <p:spPr>
          <a:xfrm>
            <a:off x="10667733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pulent Hairline Grid Line"/>
          <p:cNvCxnSpPr/>
          <p:nvPr/>
        </p:nvCxnSpPr>
        <p:spPr>
          <a:xfrm>
            <a:off x="11429714" y="762000"/>
            <a:ext cx="0" cy="609600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pulent Hairline Grid Line"/>
          <p:cNvCxnSpPr/>
          <p:nvPr/>
        </p:nvCxnSpPr>
        <p:spPr>
          <a:xfrm>
            <a:off x="0" y="76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pulent Hairline Grid Line"/>
          <p:cNvCxnSpPr/>
          <p:nvPr/>
        </p:nvCxnSpPr>
        <p:spPr>
          <a:xfrm>
            <a:off x="0" y="152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pulent Hairline Grid Line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pulent Hairline Grid Line"/>
          <p:cNvCxnSpPr/>
          <p:nvPr/>
        </p:nvCxnSpPr>
        <p:spPr>
          <a:xfrm>
            <a:off x="0" y="3048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pulent Hairline Grid Line"/>
          <p:cNvCxnSpPr/>
          <p:nvPr/>
        </p:nvCxnSpPr>
        <p:spPr>
          <a:xfrm>
            <a:off x="0" y="3810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pulent Hairline Grid Line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pulent Hairline Grid Line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Opulent Hairline Grid Line"/>
          <p:cNvCxnSpPr/>
          <p:nvPr/>
        </p:nvCxnSpPr>
        <p:spPr>
          <a:xfrm>
            <a:off x="0" y="6096000"/>
            <a:ext cx="12191695" cy="0"/>
          </a:xfrm>
          <a:prstGeom prst="line">
            <a:avLst/>
          </a:prstGeom>
          <a:ln w="3175">
            <a:solidFill>
              <a:srgbClr val="D8D8D8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7472"/>
            <a:ext cx="7223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Helvetica Neue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35353"/>
                </a:solidFill>
                <a:latin typeface="Helvetica Neue"/>
              </a:rPr>
              <a:t>CONFIDENTIAL / OPULENT x FARNSWORTH /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9659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0A0A0A"/>
                </a:solidFill>
                <a:latin typeface="Helvetica Neue"/>
              </a:rPr>
              <a:t>Thank you.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63240"/>
            <a:ext cx="7132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C1C1C"/>
                </a:solidFill>
                <a:latin typeface="Helvetica Neue"/>
              </a:rPr>
              <a:t>We appreciate the opportunity to help Farnsworth make quality more trusted, defensible, and easier to adopt.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251960"/>
            <a:ext cx="1920240" cy="4114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70916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Helvetica Neue"/>
              </a:rPr>
              <a:t>Opulent x Farnsworth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