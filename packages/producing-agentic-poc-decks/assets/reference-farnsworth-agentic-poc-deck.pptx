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ns0:presentation xmlns:a="http://schemas.openxmlformats.org/drawingml/2006/main" xmlns:ns0="http://schemas.openxmlformats.org/presentationml/2006/main" xmlns:ns3="http://customooxmlschemas.google.com/" xmlns:r="http://schemas.openxmlformats.org/officeDocument/2006/relationships" autoCompressPictures="0" embedTrueTypeFonts="1" strictFirstAndLastChars="0" saveSubsetFonts="1">
  <ns0:sldMasterIdLst>
    <ns0:sldMasterId id="2147483648" r:id="rId3"/>
  </ns0:sldMasterIdLst>
  <ns0:notesMasterIdLst>
    <ns0:notesMasterId r:id="rId4"/>
  </ns0:notesMasterIdLst>
  <ns0:sldIdLst>
    <ns0:sldId id="256" r:id="rId5"/>
    <ns0:sldId id="257" r:id="rId6"/>
    <ns0:sldId id="258" r:id="rId7"/>
    <ns0:sldId id="259" r:id="rId8"/>
    <ns0:sldId id="269" r:id="rId23"/>
    <ns0:sldId id="260" r:id="rId9"/>
    <ns0:sldId id="261" r:id="rId10"/>
    <ns0:sldId id="270" r:id="rIdInserted1"/>
    <ns0:sldId id="262" r:id="rId11"/>
    <ns0:sldId id="263" r:id="rId12"/>
    <ns0:sldId id="264" r:id="rId13"/>
    <ns0:sldId id="265" r:id="rId14"/>
    <ns0:sldId id="266" r:id="rId15"/>
    <ns0:sldId id="268" r:id="rId17"/>
    <ns0:sldId id="267" r:id="rId16"/>
  </ns0:sldIdLst>
  <ns0:sldSz cy="6858000" cx="12179300"/>
  <ns0:notesSz cx="6858000" cy="9144000"/>
  <ns0:embeddedFontLst>
    <ns0:embeddedFont>
      <ns0:font typeface="Helvetica Neue"/>
      <ns0:regular r:id="rId18"/>
      <ns0:bold r:id="rId19"/>
      <ns0:italic r:id="rId20"/>
      <ns0:boldItalic r:id="rId21"/>
    </ns0:embeddedFont>
  </ns0:embeddedFontLst>
  <ns0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ns0:defaultTextStyle>
  <ns0:extLst>
    <ns0:ext uri="GoogleSlidesCustomDataVersion2">
      <ns3:slidesCustomData r:id="rId22" roundtripDataSignature="AMtx7mhwHM8IOf9LVP7sRylllU+UKp9OkA=="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Inserted1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4.xml"/><Relationship Id="rId18" Type="http://schemas.openxmlformats.org/officeDocument/2006/relationships/font" Target="fonts/HelveticaNeue-regular.fntdata"/><Relationship Id="rId19" Type="http://schemas.openxmlformats.org/officeDocument/2006/relationships/font" Target="fonts/HelveticaNeue-bold.fntdata"/><Relationship Id="rId20" Type="http://schemas.openxmlformats.org/officeDocument/2006/relationships/font" Target="fonts/HelveticaNeue-italic.fntdata"/><Relationship Id="rId21" Type="http://schemas.openxmlformats.org/officeDocument/2006/relationships/font" Target="fonts/HelveticaNeue-boldItalic.fntdata"/><Relationship Id="rId22" Type="http://customschemas.google.com/relationships/presentationmetadata" Target="metadata"/><Relationship Id="rId23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LayoutInserted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arnsworth technical overview background 01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F7F5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Farnsworth technical overview background 02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Farnsworth technical overview background 03"/>
          <p:cNvSpPr>
            <a:spLocks noGrp="1"/>
          </p:cNvSpPr>
          <p:nvPr/>
        </p:nvSpPr>
        <p:spPr>
          <a:xfrm>
            <a:off x="76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Farnsworth technical overview background 04"/>
          <p:cNvSpPr>
            <a:spLocks noGrp="1"/>
          </p:cNvSpPr>
          <p:nvPr/>
        </p:nvSpPr>
        <p:spPr>
          <a:xfrm>
            <a:off x="152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Farnsworth technical overview background 05"/>
          <p:cNvSpPr>
            <a:spLocks noGrp="1"/>
          </p:cNvSpPr>
          <p:nvPr/>
        </p:nvSpPr>
        <p:spPr>
          <a:xfrm>
            <a:off x="228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Farnsworth technical overview background 06"/>
          <p:cNvSpPr>
            <a:spLocks noGrp="1"/>
          </p:cNvSpPr>
          <p:nvPr/>
        </p:nvSpPr>
        <p:spPr>
          <a:xfrm>
            <a:off x="304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Farnsworth technical overview background 07"/>
          <p:cNvSpPr>
            <a:spLocks noGrp="1"/>
          </p:cNvSpPr>
          <p:nvPr/>
        </p:nvSpPr>
        <p:spPr>
          <a:xfrm>
            <a:off x="381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Farnsworth technical overview background 08"/>
          <p:cNvSpPr>
            <a:spLocks noGrp="1"/>
          </p:cNvSpPr>
          <p:nvPr/>
        </p:nvSpPr>
        <p:spPr>
          <a:xfrm>
            <a:off x="457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Farnsworth technical overview background 09"/>
          <p:cNvSpPr>
            <a:spLocks noGrp="1"/>
          </p:cNvSpPr>
          <p:nvPr/>
        </p:nvSpPr>
        <p:spPr>
          <a:xfrm>
            <a:off x="533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Farnsworth technical overview background 10"/>
          <p:cNvSpPr>
            <a:spLocks noGrp="1"/>
          </p:cNvSpPr>
          <p:nvPr/>
        </p:nvSpPr>
        <p:spPr>
          <a:xfrm>
            <a:off x="609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Farnsworth technical overview background 11"/>
          <p:cNvSpPr>
            <a:spLocks noGrp="1"/>
          </p:cNvSpPr>
          <p:nvPr/>
        </p:nvSpPr>
        <p:spPr>
          <a:xfrm>
            <a:off x="685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Farnsworth technical overview background 12"/>
          <p:cNvSpPr>
            <a:spLocks noGrp="1"/>
          </p:cNvSpPr>
          <p:nvPr/>
        </p:nvSpPr>
        <p:spPr>
          <a:xfrm>
            <a:off x="762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Farnsworth technical overview background 13"/>
          <p:cNvSpPr>
            <a:spLocks noGrp="1"/>
          </p:cNvSpPr>
          <p:nvPr/>
        </p:nvSpPr>
        <p:spPr>
          <a:xfrm>
            <a:off x="838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Farnsworth technical overview background 14"/>
          <p:cNvSpPr>
            <a:spLocks noGrp="1"/>
          </p:cNvSpPr>
          <p:nvPr/>
        </p:nvSpPr>
        <p:spPr>
          <a:xfrm>
            <a:off x="914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Farnsworth technical overview background 15"/>
          <p:cNvSpPr>
            <a:spLocks noGrp="1"/>
          </p:cNvSpPr>
          <p:nvPr/>
        </p:nvSpPr>
        <p:spPr>
          <a:xfrm>
            <a:off x="990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Farnsworth technical overview background 16"/>
          <p:cNvSpPr>
            <a:spLocks noGrp="1"/>
          </p:cNvSpPr>
          <p:nvPr/>
        </p:nvSpPr>
        <p:spPr>
          <a:xfrm>
            <a:off x="1066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Farnsworth technical overview background 17"/>
          <p:cNvSpPr>
            <a:spLocks noGrp="1"/>
          </p:cNvSpPr>
          <p:nvPr/>
        </p:nvSpPr>
        <p:spPr>
          <a:xfrm>
            <a:off x="1143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Farnsworth technical overview background 18"/>
          <p:cNvSpPr>
            <a:spLocks noGrp="1"/>
          </p:cNvSpPr>
          <p:nvPr/>
        </p:nvSpPr>
        <p:spPr>
          <a:xfrm>
            <a:off x="1219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Farnsworth technical overview background 19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Farnsworth technical overview background 20"/>
          <p:cNvSpPr>
            <a:spLocks noGrp="1"/>
          </p:cNvSpPr>
          <p:nvPr/>
        </p:nvSpPr>
        <p:spPr>
          <a:xfrm>
            <a:off x="0" y="76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Farnsworth technical overview background 21"/>
          <p:cNvSpPr>
            <a:spLocks noGrp="1"/>
          </p:cNvSpPr>
          <p:nvPr/>
        </p:nvSpPr>
        <p:spPr>
          <a:xfrm>
            <a:off x="0" y="152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Farnsworth technical overview background 22"/>
          <p:cNvSpPr>
            <a:spLocks noGrp="1"/>
          </p:cNvSpPr>
          <p:nvPr/>
        </p:nvSpPr>
        <p:spPr>
          <a:xfrm>
            <a:off x="0" y="228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Farnsworth technical overview background 23"/>
          <p:cNvSpPr>
            <a:spLocks noGrp="1"/>
          </p:cNvSpPr>
          <p:nvPr/>
        </p:nvSpPr>
        <p:spPr>
          <a:xfrm>
            <a:off x="0" y="304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Farnsworth technical overview background 24"/>
          <p:cNvSpPr>
            <a:spLocks noGrp="1"/>
          </p:cNvSpPr>
          <p:nvPr/>
        </p:nvSpPr>
        <p:spPr>
          <a:xfrm>
            <a:off x="0" y="3810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Farnsworth technical overview background 25"/>
          <p:cNvSpPr>
            <a:spLocks noGrp="1"/>
          </p:cNvSpPr>
          <p:nvPr/>
        </p:nvSpPr>
        <p:spPr>
          <a:xfrm>
            <a:off x="0" y="457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Farnsworth technical overview background 26"/>
          <p:cNvSpPr>
            <a:spLocks noGrp="1"/>
          </p:cNvSpPr>
          <p:nvPr/>
        </p:nvSpPr>
        <p:spPr>
          <a:xfrm>
            <a:off x="0" y="533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Farnsworth technical overview background 27"/>
          <p:cNvSpPr>
            <a:spLocks noGrp="1"/>
          </p:cNvSpPr>
          <p:nvPr/>
        </p:nvSpPr>
        <p:spPr>
          <a:xfrm>
            <a:off x="0" y="609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Farnsworth technical overview background 28"/>
          <p:cNvSpPr>
            <a:spLocks noGrp="1"/>
          </p:cNvSpPr>
          <p:nvPr/>
        </p:nvSpPr>
        <p:spPr>
          <a:xfrm>
            <a:off x="0" y="685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9" name="Google Shape;19;p1"/>
          <p:cNvCxnSpPr/>
          <p:nvPr/>
        </p:nvCxnSpPr>
        <p:spPr>
          <a:xfrm>
            <a:off x="-1" y="13716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1"/>
          <p:cNvCxnSpPr/>
          <p:nvPr/>
        </p:nvCxnSpPr>
        <p:spPr>
          <a:xfrm>
            <a:off x="-1" y="27432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1"/>
          <p:cNvCxnSpPr/>
          <p:nvPr/>
        </p:nvCxnSpPr>
        <p:spPr>
          <a:xfrm>
            <a:off x="-1" y="41148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-1" y="54864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 flipH="1">
            <a:off x="1354633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 flipH="1">
            <a:off x="2709265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 flipH="1">
            <a:off x="4063898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1"/>
          <p:cNvCxnSpPr/>
          <p:nvPr/>
        </p:nvCxnSpPr>
        <p:spPr>
          <a:xfrm flipH="1">
            <a:off x="5418530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1"/>
          <p:cNvCxnSpPr/>
          <p:nvPr/>
        </p:nvCxnSpPr>
        <p:spPr>
          <a:xfrm flipH="1">
            <a:off x="6773164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1"/>
          <p:cNvCxnSpPr/>
          <p:nvPr/>
        </p:nvCxnSpPr>
        <p:spPr>
          <a:xfrm flipH="1">
            <a:off x="8127796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1"/>
          <p:cNvCxnSpPr/>
          <p:nvPr/>
        </p:nvCxnSpPr>
        <p:spPr>
          <a:xfrm flipH="1">
            <a:off x="9482429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1"/>
          <p:cNvCxnSpPr/>
          <p:nvPr/>
        </p:nvCxnSpPr>
        <p:spPr>
          <a:xfrm flipH="1">
            <a:off x="10837061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"/>
          <p:cNvSpPr txBox="1"/>
          <p:nvPr/>
        </p:nvSpPr>
        <p:spPr>
          <a:xfrm>
            <a:off x="758951" y="1051560"/>
            <a:ext cx="7315201" cy="1590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5200"/>
              <a:buFont typeface="Helvetica Neue"/>
              <a:buNone/>
            </a:pPr>
            <a:r>
              <a:rPr b="1" i="0" lang="en-US" sz="52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Full-File Review</a:t>
            </a:r>
            <a:endParaRPr/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5200"/>
              <a:buFont typeface="Helvetica Neue"/>
              <a:buNone/>
            </a:pPr>
            <a:r>
              <a:rPr b="1" i="0" lang="en-US" sz="52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Exception Review</a:t>
            </a:r>
            <a:endParaRPr/>
          </a:p>
        </p:txBody>
      </p:sp>
      <p:sp>
        <p:nvSpPr>
          <p:cNvPr id="32" name="Google Shape;32;p1"/>
          <p:cNvSpPr txBox="1"/>
          <p:nvPr/>
        </p:nvSpPr>
        <p:spPr>
          <a:xfrm>
            <a:off x="758951" y="366147"/>
            <a:ext cx="7315201" cy="13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× FARNSWORTH / 01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758952" y="3063239"/>
            <a:ext cx="6766560" cy="69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proposal for Farnsworth: AI-assisted survey quality that reduces PM review time while strengthening data-quality assurance across Decipher cleaning, open-end QA, and the PM exception workflow.</a:t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758951" y="4224528"/>
            <a:ext cx="1920241" cy="45721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 txBox="1"/>
          <p:nvPr/>
        </p:nvSpPr>
        <p:spPr>
          <a:xfrm>
            <a:off x="758951" y="4473188"/>
            <a:ext cx="6400801" cy="161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Helvetica Neue"/>
              <a:buNone/>
            </a:pPr>
            <a:r>
              <a:rPr b="1" i="0" lang="en-US" sz="11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Prepared by Opulent for Farnsworth Group and HIRI  ·  May 29, 2026</a:t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8183880" y="1005840"/>
            <a:ext cx="3246121" cy="3611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8458199" y="1312551"/>
            <a:ext cx="2697482" cy="13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CORE SIGNAL</a:t>
            </a:r>
            <a:endParaRPr/>
          </a:p>
        </p:txBody>
      </p:sp>
      <p:sp>
        <p:nvSpPr>
          <p:cNvPr id="38" name="Google Shape;38;p1"/>
          <p:cNvSpPr txBox="1"/>
          <p:nvPr/>
        </p:nvSpPr>
        <p:spPr>
          <a:xfrm>
            <a:off x="8458199" y="1572767"/>
            <a:ext cx="2697482" cy="881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Survey quality becomes a trusted, repeatable workflow.</a:t>
            </a:r>
            <a:endParaRPr/>
          </a:p>
        </p:txBody>
      </p:sp>
      <p:sp>
        <p:nvSpPr>
          <p:cNvPr id="39" name="Google Shape;39;p1"/>
          <p:cNvSpPr txBox="1"/>
          <p:nvPr/>
        </p:nvSpPr>
        <p:spPr>
          <a:xfrm>
            <a:off x="8458199" y="3154679"/>
            <a:ext cx="2697482" cy="668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 every respondent, surface only the exceptions, and attach evidence to every call — so PMs decide faster and stand behind the result.</a:t>
            </a:r>
            <a:endParaRPr/>
          </a:p>
        </p:txBody>
      </p:sp>
      <p:sp>
        <p:nvSpPr>
          <p:cNvPr id="40" name="Google Shape;40;p1"/>
          <p:cNvSpPr txBox="1"/>
          <p:nvPr/>
        </p:nvSpPr>
        <p:spPr>
          <a:xfrm>
            <a:off x="3954313" y="4917980"/>
            <a:ext cx="3360887" cy="752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500"/>
              <a:buFont typeface="Helvetica Neue"/>
              <a:buNone/>
            </a:pPr>
            <a:r>
              <a:rPr b="1" i="0" lang="en-US" sz="32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 txBox="1"/>
          <p:nvPr/>
        </p:nvSpPr>
        <p:spPr>
          <a:xfrm>
            <a:off x="5334000" y="5705855"/>
            <a:ext cx="2095500" cy="136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Helvetica Neue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recommended exclusions</a:t>
            </a:r>
            <a:endParaRPr/>
          </a:p>
        </p:txBody>
      </p:sp>
      <p:sp>
        <p:nvSpPr>
          <p:cNvPr id="42" name="Google Shape;42;p1"/>
          <p:cNvSpPr txBox="1"/>
          <p:nvPr/>
        </p:nvSpPr>
        <p:spPr>
          <a:xfrm>
            <a:off x="7680959" y="5040288"/>
            <a:ext cx="1691641" cy="508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3400"/>
              <a:buFont typeface="Helvetica Neue"/>
              <a:buNone/>
            </a:pPr>
            <a:r>
              <a:rPr b="1" i="0" lang="en-US" sz="34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1,036</a:t>
            </a:r>
            <a:endParaRPr/>
          </a:p>
        </p:txBody>
      </p:sp>
      <p:sp>
        <p:nvSpPr>
          <p:cNvPr id="43" name="Google Shape;43;p1"/>
          <p:cNvSpPr txBox="1"/>
          <p:nvPr/>
        </p:nvSpPr>
        <p:spPr>
          <a:xfrm>
            <a:off x="7680959" y="5705855"/>
            <a:ext cx="1691641" cy="136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Helvetica Neue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sample respondents</a:t>
            </a:r>
            <a:endParaRPr/>
          </a:p>
        </p:txBody>
      </p:sp>
      <p:sp>
        <p:nvSpPr>
          <p:cNvPr id="44" name="Google Shape;44;p1"/>
          <p:cNvSpPr txBox="1"/>
          <p:nvPr/>
        </p:nvSpPr>
        <p:spPr>
          <a:xfrm>
            <a:off x="9738359" y="5040288"/>
            <a:ext cx="1691641" cy="508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3400"/>
              <a:buFont typeface="Helvetica Neue"/>
              <a:buNone/>
            </a:pPr>
            <a:r>
              <a:rPr b="1" i="0" lang="en-US" sz="34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45" name="Google Shape;45;p1"/>
          <p:cNvSpPr txBox="1"/>
          <p:nvPr/>
        </p:nvSpPr>
        <p:spPr>
          <a:xfrm>
            <a:off x="9738359" y="5705855"/>
            <a:ext cx="1691641" cy="136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Helvetica Neue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delivery options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arnsworth technical overview background 01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F7F5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Farnsworth technical overview background 02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Farnsworth technical overview background 03"/>
          <p:cNvSpPr>
            <a:spLocks noGrp="1"/>
          </p:cNvSpPr>
          <p:nvPr/>
        </p:nvSpPr>
        <p:spPr>
          <a:xfrm>
            <a:off x="76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Farnsworth technical overview background 04"/>
          <p:cNvSpPr>
            <a:spLocks noGrp="1"/>
          </p:cNvSpPr>
          <p:nvPr/>
        </p:nvSpPr>
        <p:spPr>
          <a:xfrm>
            <a:off x="152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Farnsworth technical overview background 05"/>
          <p:cNvSpPr>
            <a:spLocks noGrp="1"/>
          </p:cNvSpPr>
          <p:nvPr/>
        </p:nvSpPr>
        <p:spPr>
          <a:xfrm>
            <a:off x="228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Farnsworth technical overview background 06"/>
          <p:cNvSpPr>
            <a:spLocks noGrp="1"/>
          </p:cNvSpPr>
          <p:nvPr/>
        </p:nvSpPr>
        <p:spPr>
          <a:xfrm>
            <a:off x="304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Farnsworth technical overview background 07"/>
          <p:cNvSpPr>
            <a:spLocks noGrp="1"/>
          </p:cNvSpPr>
          <p:nvPr/>
        </p:nvSpPr>
        <p:spPr>
          <a:xfrm>
            <a:off x="381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Farnsworth technical overview background 08"/>
          <p:cNvSpPr>
            <a:spLocks noGrp="1"/>
          </p:cNvSpPr>
          <p:nvPr/>
        </p:nvSpPr>
        <p:spPr>
          <a:xfrm>
            <a:off x="457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Farnsworth technical overview background 09"/>
          <p:cNvSpPr>
            <a:spLocks noGrp="1"/>
          </p:cNvSpPr>
          <p:nvPr/>
        </p:nvSpPr>
        <p:spPr>
          <a:xfrm>
            <a:off x="533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Farnsworth technical overview background 10"/>
          <p:cNvSpPr>
            <a:spLocks noGrp="1"/>
          </p:cNvSpPr>
          <p:nvPr/>
        </p:nvSpPr>
        <p:spPr>
          <a:xfrm>
            <a:off x="609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Farnsworth technical overview background 11"/>
          <p:cNvSpPr>
            <a:spLocks noGrp="1"/>
          </p:cNvSpPr>
          <p:nvPr/>
        </p:nvSpPr>
        <p:spPr>
          <a:xfrm>
            <a:off x="685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Farnsworth technical overview background 12"/>
          <p:cNvSpPr>
            <a:spLocks noGrp="1"/>
          </p:cNvSpPr>
          <p:nvPr/>
        </p:nvSpPr>
        <p:spPr>
          <a:xfrm>
            <a:off x="762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Farnsworth technical overview background 13"/>
          <p:cNvSpPr>
            <a:spLocks noGrp="1"/>
          </p:cNvSpPr>
          <p:nvPr/>
        </p:nvSpPr>
        <p:spPr>
          <a:xfrm>
            <a:off x="838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Farnsworth technical overview background 14"/>
          <p:cNvSpPr>
            <a:spLocks noGrp="1"/>
          </p:cNvSpPr>
          <p:nvPr/>
        </p:nvSpPr>
        <p:spPr>
          <a:xfrm>
            <a:off x="914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Farnsworth technical overview background 15"/>
          <p:cNvSpPr>
            <a:spLocks noGrp="1"/>
          </p:cNvSpPr>
          <p:nvPr/>
        </p:nvSpPr>
        <p:spPr>
          <a:xfrm>
            <a:off x="990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Farnsworth technical overview background 16"/>
          <p:cNvSpPr>
            <a:spLocks noGrp="1"/>
          </p:cNvSpPr>
          <p:nvPr/>
        </p:nvSpPr>
        <p:spPr>
          <a:xfrm>
            <a:off x="1066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Farnsworth technical overview background 17"/>
          <p:cNvSpPr>
            <a:spLocks noGrp="1"/>
          </p:cNvSpPr>
          <p:nvPr/>
        </p:nvSpPr>
        <p:spPr>
          <a:xfrm>
            <a:off x="1143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Farnsworth technical overview background 18"/>
          <p:cNvSpPr>
            <a:spLocks noGrp="1"/>
          </p:cNvSpPr>
          <p:nvPr/>
        </p:nvSpPr>
        <p:spPr>
          <a:xfrm>
            <a:off x="1219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Farnsworth technical overview background 19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Farnsworth technical overview background 20"/>
          <p:cNvSpPr>
            <a:spLocks noGrp="1"/>
          </p:cNvSpPr>
          <p:nvPr/>
        </p:nvSpPr>
        <p:spPr>
          <a:xfrm>
            <a:off x="0" y="76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Farnsworth technical overview background 21"/>
          <p:cNvSpPr>
            <a:spLocks noGrp="1"/>
          </p:cNvSpPr>
          <p:nvPr/>
        </p:nvSpPr>
        <p:spPr>
          <a:xfrm>
            <a:off x="0" y="152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Farnsworth technical overview background 22"/>
          <p:cNvSpPr>
            <a:spLocks noGrp="1"/>
          </p:cNvSpPr>
          <p:nvPr/>
        </p:nvSpPr>
        <p:spPr>
          <a:xfrm>
            <a:off x="0" y="228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Farnsworth technical overview background 23"/>
          <p:cNvSpPr>
            <a:spLocks noGrp="1"/>
          </p:cNvSpPr>
          <p:nvPr/>
        </p:nvSpPr>
        <p:spPr>
          <a:xfrm>
            <a:off x="0" y="304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Farnsworth technical overview background 24"/>
          <p:cNvSpPr>
            <a:spLocks noGrp="1"/>
          </p:cNvSpPr>
          <p:nvPr/>
        </p:nvSpPr>
        <p:spPr>
          <a:xfrm>
            <a:off x="0" y="3810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Farnsworth technical overview background 25"/>
          <p:cNvSpPr>
            <a:spLocks noGrp="1"/>
          </p:cNvSpPr>
          <p:nvPr/>
        </p:nvSpPr>
        <p:spPr>
          <a:xfrm>
            <a:off x="0" y="457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Farnsworth technical overview background 26"/>
          <p:cNvSpPr>
            <a:spLocks noGrp="1"/>
          </p:cNvSpPr>
          <p:nvPr/>
        </p:nvSpPr>
        <p:spPr>
          <a:xfrm>
            <a:off x="0" y="533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Farnsworth technical overview background 27"/>
          <p:cNvSpPr>
            <a:spLocks noGrp="1"/>
          </p:cNvSpPr>
          <p:nvPr/>
        </p:nvSpPr>
        <p:spPr>
          <a:xfrm>
            <a:off x="0" y="609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Farnsworth technical overview background 28"/>
          <p:cNvSpPr>
            <a:spLocks noGrp="1"/>
          </p:cNvSpPr>
          <p:nvPr/>
        </p:nvSpPr>
        <p:spPr>
          <a:xfrm>
            <a:off x="0" y="685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50" name="Google Shape;50;p2"/>
          <p:cNvCxnSpPr/>
          <p:nvPr/>
        </p:nvCxnSpPr>
        <p:spPr>
          <a:xfrm flipH="1">
            <a:off x="1354633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" name="Google Shape;51;p2"/>
          <p:cNvCxnSpPr/>
          <p:nvPr/>
        </p:nvCxnSpPr>
        <p:spPr>
          <a:xfrm flipH="1">
            <a:off x="2709265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" name="Google Shape;52;p2"/>
          <p:cNvCxnSpPr/>
          <p:nvPr/>
        </p:nvCxnSpPr>
        <p:spPr>
          <a:xfrm flipH="1">
            <a:off x="4063898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" name="Google Shape;53;p2"/>
          <p:cNvCxnSpPr/>
          <p:nvPr/>
        </p:nvCxnSpPr>
        <p:spPr>
          <a:xfrm flipH="1">
            <a:off x="5418530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2"/>
          <p:cNvCxnSpPr/>
          <p:nvPr/>
        </p:nvCxnSpPr>
        <p:spPr>
          <a:xfrm flipH="1">
            <a:off x="6773164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" name="Google Shape;55;p2"/>
          <p:cNvCxnSpPr/>
          <p:nvPr/>
        </p:nvCxnSpPr>
        <p:spPr>
          <a:xfrm flipH="1">
            <a:off x="8127796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2"/>
          <p:cNvCxnSpPr/>
          <p:nvPr/>
        </p:nvCxnSpPr>
        <p:spPr>
          <a:xfrm flipH="1">
            <a:off x="9482429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2"/>
          <p:cNvCxnSpPr/>
          <p:nvPr/>
        </p:nvCxnSpPr>
        <p:spPr>
          <a:xfrm flipH="1">
            <a:off x="10837061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2"/>
          <p:cNvCxnSpPr/>
          <p:nvPr/>
        </p:nvCxnSpPr>
        <p:spPr>
          <a:xfrm>
            <a:off x="-1" y="13716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2"/>
          <p:cNvCxnSpPr/>
          <p:nvPr/>
        </p:nvCxnSpPr>
        <p:spPr>
          <a:xfrm>
            <a:off x="-1" y="27432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2"/>
          <p:cNvCxnSpPr/>
          <p:nvPr/>
        </p:nvCxnSpPr>
        <p:spPr>
          <a:xfrm>
            <a:off x="-1" y="41148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2"/>
          <p:cNvCxnSpPr/>
          <p:nvPr/>
        </p:nvCxnSpPr>
        <p:spPr>
          <a:xfrm>
            <a:off x="-1" y="54864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2"/>
          <p:cNvSpPr txBox="1"/>
          <p:nvPr/>
        </p:nvSpPr>
        <p:spPr>
          <a:xfrm>
            <a:off x="758951" y="366147"/>
            <a:ext cx="7315201" cy="13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EXECUTIVE SUMMARY</a:t>
            </a:r>
            <a:endParaRPr/>
          </a:p>
        </p:txBody>
      </p:sp>
      <p:sp>
        <p:nvSpPr>
          <p:cNvPr id="63" name="Google Shape;63;p2"/>
          <p:cNvSpPr txBox="1"/>
          <p:nvPr/>
        </p:nvSpPr>
        <p:spPr>
          <a:xfrm>
            <a:off x="5943600" y="366090"/>
            <a:ext cx="54864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Helvetica Neue"/>
              <a:buNone/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× FARNSWORTH / 02</a:t>
            </a:r>
            <a:endParaRPr/>
          </a:p>
        </p:txBody>
      </p:sp>
      <p:sp>
        <p:nvSpPr>
          <p:cNvPr id="64" name="Google Shape;64;p2"/>
          <p:cNvSpPr txBox="1"/>
          <p:nvPr/>
        </p:nvSpPr>
        <p:spPr>
          <a:xfrm>
            <a:off x="758952" y="932688"/>
            <a:ext cx="10671048" cy="409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700"/>
              <a:buFont typeface="Helvetica Neue"/>
              <a:buNone/>
            </a:pPr>
            <a:r>
              <a:rPr b="1" i="0" lang="en-US" sz="27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Delivering a trusted survey-quality workflow.</a:t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758951" y="2331720"/>
            <a:ext cx="6583682" cy="89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Helvetica Neue"/>
              <a:buNone/>
            </a:pPr>
            <a:r>
              <a:rPr b="0" i="0" lang="en-US" sz="14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Farnsworth already uses a custom GPT to flag poor-quality respondents, but PMs report it takes too long to work with and they do not trust its review of open-ended responses, so they still review the file themselves. In practice the AI annotates; it isn’t yet a decision-support system Project Managers can rely on.</a:t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>
            <a:off x="758951" y="3520440"/>
            <a:ext cx="274321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endParaRPr/>
          </a:p>
        </p:txBody>
      </p:sp>
      <p:sp>
        <p:nvSpPr>
          <p:cNvPr id="67" name="Google Shape;67;p2"/>
          <p:cNvSpPr txBox="1"/>
          <p:nvPr/>
        </p:nvSpPr>
        <p:spPr>
          <a:xfrm>
            <a:off x="1069847" y="3520440"/>
            <a:ext cx="6263642" cy="575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model isn't the differentiator — the calibrated, auditable workflow around it is. We turn the Decipher → ChatGPT → PM-review process into an exception-based workflow Opulent builds and runs for you.</a:t>
            </a:r>
            <a:endParaRPr/>
          </a:p>
        </p:txBody>
      </p:sp>
      <p:sp>
        <p:nvSpPr>
          <p:cNvPr id="68" name="Google Shape;68;p2"/>
          <p:cNvSpPr txBox="1"/>
          <p:nvPr/>
        </p:nvSpPr>
        <p:spPr>
          <a:xfrm>
            <a:off x="758951" y="4178808"/>
            <a:ext cx="274321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endParaRPr/>
          </a:p>
        </p:txBody>
      </p:sp>
      <p:sp>
        <p:nvSpPr>
          <p:cNvPr id="69" name="Google Shape;69;p2"/>
          <p:cNvSpPr txBox="1"/>
          <p:nvPr/>
        </p:nvSpPr>
        <p:spPr>
          <a:xfrm>
            <a:off x="1069847" y="4178808"/>
            <a:ext cx="6263642" cy="36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PMs review only the respondents that truly need judgment — each with a reason, confidence level, and recommended action.</a:t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758951" y="4837176"/>
            <a:ext cx="274321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endParaRPr/>
          </a:p>
        </p:txBody>
      </p:sp>
      <p:sp>
        <p:nvSpPr>
          <p:cNvPr id="71" name="Google Shape;71;p2"/>
          <p:cNvSpPr txBox="1"/>
          <p:nvPr/>
        </p:nvSpPr>
        <p:spPr>
          <a:xfrm>
            <a:off x="1069847" y="4837176"/>
            <a:ext cx="6263642" cy="36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Goals: cut PM labor, preserve or improve quality, and build confidence that bad respondents never reach client deliverables.</a:t>
            </a:r>
            <a:endParaRPr/>
          </a:p>
        </p:txBody>
      </p:sp>
      <p:sp>
        <p:nvSpPr>
          <p:cNvPr id="72" name="Google Shape;72;p2"/>
          <p:cNvSpPr txBox="1"/>
          <p:nvPr/>
        </p:nvSpPr>
        <p:spPr>
          <a:xfrm>
            <a:off x="758951" y="5495544"/>
            <a:ext cx="274321" cy="198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endParaRPr/>
          </a:p>
        </p:txBody>
      </p:sp>
      <p:sp>
        <p:nvSpPr>
          <p:cNvPr id="73" name="Google Shape;73;p2"/>
          <p:cNvSpPr txBox="1"/>
          <p:nvPr/>
        </p:nvSpPr>
        <p:spPr>
          <a:xfrm>
            <a:off x="1069847" y="5495544"/>
            <a:ext cx="6263642" cy="173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Produce a defensible audit trail and a workflow Farnsworth can adopt company-wide.</a:t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7818119" y="2103120"/>
            <a:ext cx="3611881" cy="36576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8092440" y="2428119"/>
            <a:ext cx="3063241" cy="13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GOAL</a:t>
            </a:r>
            <a:endParaRPr/>
          </a:p>
        </p:txBody>
      </p:sp>
      <p:sp>
        <p:nvSpPr>
          <p:cNvPr id="76" name="Google Shape;76;p2"/>
          <p:cNvSpPr txBox="1"/>
          <p:nvPr/>
        </p:nvSpPr>
        <p:spPr>
          <a:xfrm>
            <a:off x="8092440" y="2743199"/>
            <a:ext cx="3063241" cy="677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200"/>
              <a:buFont typeface="Helvetica Neue"/>
              <a:buNone/>
            </a:pPr>
            <a:r>
              <a:rPr b="1" i="0" lang="en-US" sz="22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Exception review, not full-file review.</a:t>
            </a:r>
            <a:endParaRPr/>
          </a:p>
        </p:txBody>
      </p:sp>
      <p:sp>
        <p:nvSpPr>
          <p:cNvPr id="77" name="Google Shape;77;p2"/>
          <p:cNvSpPr txBox="1"/>
          <p:nvPr/>
        </p:nvSpPr>
        <p:spPr>
          <a:xfrm>
            <a:off x="8092440" y="4434840"/>
            <a:ext cx="3063241" cy="668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Today PMs carry the trust burden across the whole file. The target is a system that reviews everyone, flags only the exceptions, and gets sharper each run from PM overrides.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Farnsworth technical overview background 01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F7F5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Farnsworth technical overview background 02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Farnsworth technical overview background 03"/>
          <p:cNvSpPr>
            <a:spLocks noGrp="1"/>
          </p:cNvSpPr>
          <p:nvPr/>
        </p:nvSpPr>
        <p:spPr>
          <a:xfrm>
            <a:off x="76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Farnsworth technical overview background 04"/>
          <p:cNvSpPr>
            <a:spLocks noGrp="1"/>
          </p:cNvSpPr>
          <p:nvPr/>
        </p:nvSpPr>
        <p:spPr>
          <a:xfrm>
            <a:off x="152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Farnsworth technical overview background 05"/>
          <p:cNvSpPr>
            <a:spLocks noGrp="1"/>
          </p:cNvSpPr>
          <p:nvPr/>
        </p:nvSpPr>
        <p:spPr>
          <a:xfrm>
            <a:off x="228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Farnsworth technical overview background 06"/>
          <p:cNvSpPr>
            <a:spLocks noGrp="1"/>
          </p:cNvSpPr>
          <p:nvPr/>
        </p:nvSpPr>
        <p:spPr>
          <a:xfrm>
            <a:off x="304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Farnsworth technical overview background 07"/>
          <p:cNvSpPr>
            <a:spLocks noGrp="1"/>
          </p:cNvSpPr>
          <p:nvPr/>
        </p:nvSpPr>
        <p:spPr>
          <a:xfrm>
            <a:off x="381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Farnsworth technical overview background 08"/>
          <p:cNvSpPr>
            <a:spLocks noGrp="1"/>
          </p:cNvSpPr>
          <p:nvPr/>
        </p:nvSpPr>
        <p:spPr>
          <a:xfrm>
            <a:off x="457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Farnsworth technical overview background 09"/>
          <p:cNvSpPr>
            <a:spLocks noGrp="1"/>
          </p:cNvSpPr>
          <p:nvPr/>
        </p:nvSpPr>
        <p:spPr>
          <a:xfrm>
            <a:off x="533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Farnsworth technical overview background 10"/>
          <p:cNvSpPr>
            <a:spLocks noGrp="1"/>
          </p:cNvSpPr>
          <p:nvPr/>
        </p:nvSpPr>
        <p:spPr>
          <a:xfrm>
            <a:off x="609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Farnsworth technical overview background 11"/>
          <p:cNvSpPr>
            <a:spLocks noGrp="1"/>
          </p:cNvSpPr>
          <p:nvPr/>
        </p:nvSpPr>
        <p:spPr>
          <a:xfrm>
            <a:off x="685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Farnsworth technical overview background 12"/>
          <p:cNvSpPr>
            <a:spLocks noGrp="1"/>
          </p:cNvSpPr>
          <p:nvPr/>
        </p:nvSpPr>
        <p:spPr>
          <a:xfrm>
            <a:off x="762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Farnsworth technical overview background 13"/>
          <p:cNvSpPr>
            <a:spLocks noGrp="1"/>
          </p:cNvSpPr>
          <p:nvPr/>
        </p:nvSpPr>
        <p:spPr>
          <a:xfrm>
            <a:off x="838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Farnsworth technical overview background 14"/>
          <p:cNvSpPr>
            <a:spLocks noGrp="1"/>
          </p:cNvSpPr>
          <p:nvPr/>
        </p:nvSpPr>
        <p:spPr>
          <a:xfrm>
            <a:off x="914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Farnsworth technical overview background 15"/>
          <p:cNvSpPr>
            <a:spLocks noGrp="1"/>
          </p:cNvSpPr>
          <p:nvPr/>
        </p:nvSpPr>
        <p:spPr>
          <a:xfrm>
            <a:off x="990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Farnsworth technical overview background 16"/>
          <p:cNvSpPr>
            <a:spLocks noGrp="1"/>
          </p:cNvSpPr>
          <p:nvPr/>
        </p:nvSpPr>
        <p:spPr>
          <a:xfrm>
            <a:off x="1066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Farnsworth technical overview background 17"/>
          <p:cNvSpPr>
            <a:spLocks noGrp="1"/>
          </p:cNvSpPr>
          <p:nvPr/>
        </p:nvSpPr>
        <p:spPr>
          <a:xfrm>
            <a:off x="1143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Farnsworth technical overview background 18"/>
          <p:cNvSpPr>
            <a:spLocks noGrp="1"/>
          </p:cNvSpPr>
          <p:nvPr/>
        </p:nvSpPr>
        <p:spPr>
          <a:xfrm>
            <a:off x="1219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Farnsworth technical overview background 19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Farnsworth technical overview background 20"/>
          <p:cNvSpPr>
            <a:spLocks noGrp="1"/>
          </p:cNvSpPr>
          <p:nvPr/>
        </p:nvSpPr>
        <p:spPr>
          <a:xfrm>
            <a:off x="0" y="76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Farnsworth technical overview background 21"/>
          <p:cNvSpPr>
            <a:spLocks noGrp="1"/>
          </p:cNvSpPr>
          <p:nvPr/>
        </p:nvSpPr>
        <p:spPr>
          <a:xfrm>
            <a:off x="0" y="152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Farnsworth technical overview background 22"/>
          <p:cNvSpPr>
            <a:spLocks noGrp="1"/>
          </p:cNvSpPr>
          <p:nvPr/>
        </p:nvSpPr>
        <p:spPr>
          <a:xfrm>
            <a:off x="0" y="228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Farnsworth technical overview background 23"/>
          <p:cNvSpPr>
            <a:spLocks noGrp="1"/>
          </p:cNvSpPr>
          <p:nvPr/>
        </p:nvSpPr>
        <p:spPr>
          <a:xfrm>
            <a:off x="0" y="304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Farnsworth technical overview background 24"/>
          <p:cNvSpPr>
            <a:spLocks noGrp="1"/>
          </p:cNvSpPr>
          <p:nvPr/>
        </p:nvSpPr>
        <p:spPr>
          <a:xfrm>
            <a:off x="0" y="3810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Farnsworth technical overview background 25"/>
          <p:cNvSpPr>
            <a:spLocks noGrp="1"/>
          </p:cNvSpPr>
          <p:nvPr/>
        </p:nvSpPr>
        <p:spPr>
          <a:xfrm>
            <a:off x="0" y="457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Farnsworth technical overview background 26"/>
          <p:cNvSpPr>
            <a:spLocks noGrp="1"/>
          </p:cNvSpPr>
          <p:nvPr/>
        </p:nvSpPr>
        <p:spPr>
          <a:xfrm>
            <a:off x="0" y="533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Farnsworth technical overview background 27"/>
          <p:cNvSpPr>
            <a:spLocks noGrp="1"/>
          </p:cNvSpPr>
          <p:nvPr/>
        </p:nvSpPr>
        <p:spPr>
          <a:xfrm>
            <a:off x="0" y="609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Farnsworth technical overview background 28"/>
          <p:cNvSpPr>
            <a:spLocks noGrp="1"/>
          </p:cNvSpPr>
          <p:nvPr/>
        </p:nvSpPr>
        <p:spPr>
          <a:xfrm>
            <a:off x="0" y="685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82" name="Google Shape;82;p3"/>
          <p:cNvCxnSpPr/>
          <p:nvPr/>
        </p:nvCxnSpPr>
        <p:spPr>
          <a:xfrm flipH="1">
            <a:off x="1354633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" name="Google Shape;83;p3"/>
          <p:cNvCxnSpPr/>
          <p:nvPr/>
        </p:nvCxnSpPr>
        <p:spPr>
          <a:xfrm flipH="1">
            <a:off x="2709265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3"/>
          <p:cNvCxnSpPr/>
          <p:nvPr/>
        </p:nvCxnSpPr>
        <p:spPr>
          <a:xfrm flipH="1">
            <a:off x="4063898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3"/>
          <p:cNvCxnSpPr/>
          <p:nvPr/>
        </p:nvCxnSpPr>
        <p:spPr>
          <a:xfrm flipH="1">
            <a:off x="5418530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3"/>
          <p:cNvCxnSpPr/>
          <p:nvPr/>
        </p:nvCxnSpPr>
        <p:spPr>
          <a:xfrm flipH="1">
            <a:off x="6773164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3"/>
          <p:cNvCxnSpPr/>
          <p:nvPr/>
        </p:nvCxnSpPr>
        <p:spPr>
          <a:xfrm flipH="1">
            <a:off x="8127796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3"/>
          <p:cNvCxnSpPr/>
          <p:nvPr/>
        </p:nvCxnSpPr>
        <p:spPr>
          <a:xfrm flipH="1">
            <a:off x="9482429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3"/>
          <p:cNvCxnSpPr/>
          <p:nvPr/>
        </p:nvCxnSpPr>
        <p:spPr>
          <a:xfrm flipH="1">
            <a:off x="10837061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3"/>
          <p:cNvCxnSpPr/>
          <p:nvPr/>
        </p:nvCxnSpPr>
        <p:spPr>
          <a:xfrm>
            <a:off x="-1" y="13716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3"/>
          <p:cNvCxnSpPr/>
          <p:nvPr/>
        </p:nvCxnSpPr>
        <p:spPr>
          <a:xfrm>
            <a:off x="-1" y="27432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3"/>
          <p:cNvCxnSpPr/>
          <p:nvPr/>
        </p:nvCxnSpPr>
        <p:spPr>
          <a:xfrm>
            <a:off x="-1" y="41148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3"/>
          <p:cNvCxnSpPr/>
          <p:nvPr/>
        </p:nvCxnSpPr>
        <p:spPr>
          <a:xfrm>
            <a:off x="-1" y="54864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 txBox="1"/>
          <p:nvPr/>
        </p:nvSpPr>
        <p:spPr>
          <a:xfrm>
            <a:off x="758951" y="366147"/>
            <a:ext cx="7315201" cy="13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CHALLENGE TODAY</a:t>
            </a:r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5943600" y="366090"/>
            <a:ext cx="54864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Helvetica Neue"/>
              <a:buNone/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× FARNSWORTH / 03</a:t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758952" y="932688"/>
            <a:ext cx="10671048" cy="83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700"/>
              <a:buFont typeface="Helvetica Neue"/>
              <a:buNone/>
            </a:pPr>
            <a:r>
              <a:rPr b="1" i="0" lang="en-US" sz="27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Today’s cleaning runs through Decipher, ChatGPT, and a full PM review.</a:t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758951" y="2788920"/>
            <a:ext cx="1761575" cy="45721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758951" y="3010148"/>
            <a:ext cx="1914756" cy="161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Helvetica Neue"/>
              <a:buNone/>
            </a:pPr>
            <a:r>
              <a:rPr b="1" i="0" lang="en-US" sz="11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758951" y="3298781"/>
            <a:ext cx="1914756" cy="260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Helvetica Neue"/>
              <a:buNone/>
            </a:pPr>
            <a:r>
              <a:rPr sz="1700" b="0">
                <a:solidFill>
                  <a:srgbClr val="0A0A0A"/>
                </a:solidFill>
                <a:latin typeface="Helvetica Neue"/>
              </a:rPr>
              <a:t>Field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758951" y="3703320"/>
            <a:ext cx="1914756" cy="488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Surveys are fielded in Decipher during active fielding.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2948026" y="2788920"/>
            <a:ext cx="1761574" cy="45721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2948026" y="3010148"/>
            <a:ext cx="1914755" cy="161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Helvetica Neue"/>
              <a:buNone/>
            </a:pPr>
            <a:r>
              <a:rPr b="1" i="0" lang="en-US" sz="11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2948026" y="3298781"/>
            <a:ext cx="1914755" cy="260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Helvetica Neue"/>
              <a:buNone/>
            </a:pPr>
            <a:r>
              <a:rPr b="1" i="0" lang="en-US" sz="17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Download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2948026" y="3703320"/>
            <a:ext cx="1914755" cy="488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PMs download the respondent data file from Decipher.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5137098" y="2788920"/>
            <a:ext cx="1761574" cy="45721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5137098" y="3010148"/>
            <a:ext cx="1914755" cy="161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Helvetica Neue"/>
              <a:buNone/>
            </a:pPr>
            <a:r>
              <a:rPr b="1" i="0" lang="en-US" sz="11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5137098" y="3298781"/>
            <a:ext cx="1914755" cy="260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Helvetica Neue"/>
              <a:buNone/>
            </a:pPr>
            <a:r>
              <a:rPr b="1" i="0" lang="en-US" sz="17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Upload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5137098" y="3703320"/>
            <a:ext cx="1914755" cy="31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file is uploaded to ChatGPT for quality screening.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7326172" y="2788920"/>
            <a:ext cx="1761575" cy="45721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7326172" y="3010148"/>
            <a:ext cx="1914756" cy="161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Helvetica Neue"/>
              <a:buNone/>
            </a:pPr>
            <a:r>
              <a:rPr b="1" i="0" lang="en-US" sz="11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7326172" y="3298781"/>
            <a:ext cx="1914756" cy="260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Helvetica Neue"/>
              <a:buNone/>
            </a:pPr>
            <a:r>
              <a:rPr b="1" i="0" lang="en-US" sz="17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Annotate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7326172" y="3703320"/>
            <a:ext cx="1914756" cy="31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ChatGPT returns an annotated version flagging issues.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9515246" y="2788920"/>
            <a:ext cx="1761574" cy="45721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9515246" y="3010148"/>
            <a:ext cx="1914755" cy="161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Helvetica Neue"/>
              <a:buNone/>
            </a:pPr>
            <a:r>
              <a:rPr b="1" i="0" lang="en-US" sz="11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9515246" y="3298781"/>
            <a:ext cx="1914755" cy="260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Helvetica Neue"/>
              <a:buNone/>
            </a:pPr>
            <a:r>
              <a:rPr b="1" i="0" lang="en-US" sz="17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9515246" y="3703320"/>
            <a:ext cx="1914755" cy="31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PMs review the whole file to confirm nothing was missed.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758951" y="5257799"/>
            <a:ext cx="2194561" cy="136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BOTTLENECK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3136392" y="5230367"/>
            <a:ext cx="8293608" cy="398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None/>
            </a:pPr>
            <a:r>
              <a:rPr sz="1300" b="0">
                <a:solidFill>
                  <a:srgbClr val="1C1C1C"/>
                </a:solidFill>
                <a:latin typeface="Helvetica Neue"/>
              </a:rPr>
              <a:t>Step 5 is the cost. PMs spend 1+ hour reviewing the AI's output to confirm it caught every poor-quality respondent — and they do this a few times a week, on batches of roughly 50–200. The manual re-review (or the ChatGPT annotation) is the biggest time-suck.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Farnsworth technical overview background 01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F7F5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Farnsworth technical overview background 02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Farnsworth technical overview background 03"/>
          <p:cNvSpPr>
            <a:spLocks noGrp="1"/>
          </p:cNvSpPr>
          <p:nvPr/>
        </p:nvSpPr>
        <p:spPr>
          <a:xfrm>
            <a:off x="76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Farnsworth technical overview background 04"/>
          <p:cNvSpPr>
            <a:spLocks noGrp="1"/>
          </p:cNvSpPr>
          <p:nvPr/>
        </p:nvSpPr>
        <p:spPr>
          <a:xfrm>
            <a:off x="152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Farnsworth technical overview background 05"/>
          <p:cNvSpPr>
            <a:spLocks noGrp="1"/>
          </p:cNvSpPr>
          <p:nvPr/>
        </p:nvSpPr>
        <p:spPr>
          <a:xfrm>
            <a:off x="228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Farnsworth technical overview background 06"/>
          <p:cNvSpPr>
            <a:spLocks noGrp="1"/>
          </p:cNvSpPr>
          <p:nvPr/>
        </p:nvSpPr>
        <p:spPr>
          <a:xfrm>
            <a:off x="304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Farnsworth technical overview background 07"/>
          <p:cNvSpPr>
            <a:spLocks noGrp="1"/>
          </p:cNvSpPr>
          <p:nvPr/>
        </p:nvSpPr>
        <p:spPr>
          <a:xfrm>
            <a:off x="381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Farnsworth technical overview background 08"/>
          <p:cNvSpPr>
            <a:spLocks noGrp="1"/>
          </p:cNvSpPr>
          <p:nvPr/>
        </p:nvSpPr>
        <p:spPr>
          <a:xfrm>
            <a:off x="457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Farnsworth technical overview background 09"/>
          <p:cNvSpPr>
            <a:spLocks noGrp="1"/>
          </p:cNvSpPr>
          <p:nvPr/>
        </p:nvSpPr>
        <p:spPr>
          <a:xfrm>
            <a:off x="533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Farnsworth technical overview background 10"/>
          <p:cNvSpPr>
            <a:spLocks noGrp="1"/>
          </p:cNvSpPr>
          <p:nvPr/>
        </p:nvSpPr>
        <p:spPr>
          <a:xfrm>
            <a:off x="609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Farnsworth technical overview background 11"/>
          <p:cNvSpPr>
            <a:spLocks noGrp="1"/>
          </p:cNvSpPr>
          <p:nvPr/>
        </p:nvSpPr>
        <p:spPr>
          <a:xfrm>
            <a:off x="685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Farnsworth technical overview background 12"/>
          <p:cNvSpPr>
            <a:spLocks noGrp="1"/>
          </p:cNvSpPr>
          <p:nvPr/>
        </p:nvSpPr>
        <p:spPr>
          <a:xfrm>
            <a:off x="762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Farnsworth technical overview background 13"/>
          <p:cNvSpPr>
            <a:spLocks noGrp="1"/>
          </p:cNvSpPr>
          <p:nvPr/>
        </p:nvSpPr>
        <p:spPr>
          <a:xfrm>
            <a:off x="838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Farnsworth technical overview background 14"/>
          <p:cNvSpPr>
            <a:spLocks noGrp="1"/>
          </p:cNvSpPr>
          <p:nvPr/>
        </p:nvSpPr>
        <p:spPr>
          <a:xfrm>
            <a:off x="914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Farnsworth technical overview background 15"/>
          <p:cNvSpPr>
            <a:spLocks noGrp="1"/>
          </p:cNvSpPr>
          <p:nvPr/>
        </p:nvSpPr>
        <p:spPr>
          <a:xfrm>
            <a:off x="990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Farnsworth technical overview background 16"/>
          <p:cNvSpPr>
            <a:spLocks noGrp="1"/>
          </p:cNvSpPr>
          <p:nvPr/>
        </p:nvSpPr>
        <p:spPr>
          <a:xfrm>
            <a:off x="1066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Farnsworth technical overview background 17"/>
          <p:cNvSpPr>
            <a:spLocks noGrp="1"/>
          </p:cNvSpPr>
          <p:nvPr/>
        </p:nvSpPr>
        <p:spPr>
          <a:xfrm>
            <a:off x="1143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Farnsworth technical overview background 18"/>
          <p:cNvSpPr>
            <a:spLocks noGrp="1"/>
          </p:cNvSpPr>
          <p:nvPr/>
        </p:nvSpPr>
        <p:spPr>
          <a:xfrm>
            <a:off x="1219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Farnsworth technical overview background 19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Farnsworth technical overview background 20"/>
          <p:cNvSpPr>
            <a:spLocks noGrp="1"/>
          </p:cNvSpPr>
          <p:nvPr/>
        </p:nvSpPr>
        <p:spPr>
          <a:xfrm>
            <a:off x="0" y="76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Farnsworth technical overview background 21"/>
          <p:cNvSpPr>
            <a:spLocks noGrp="1"/>
          </p:cNvSpPr>
          <p:nvPr/>
        </p:nvSpPr>
        <p:spPr>
          <a:xfrm>
            <a:off x="0" y="152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Farnsworth technical overview background 22"/>
          <p:cNvSpPr>
            <a:spLocks noGrp="1"/>
          </p:cNvSpPr>
          <p:nvPr/>
        </p:nvSpPr>
        <p:spPr>
          <a:xfrm>
            <a:off x="0" y="228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Farnsworth technical overview background 23"/>
          <p:cNvSpPr>
            <a:spLocks noGrp="1"/>
          </p:cNvSpPr>
          <p:nvPr/>
        </p:nvSpPr>
        <p:spPr>
          <a:xfrm>
            <a:off x="0" y="304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Farnsworth technical overview background 24"/>
          <p:cNvSpPr>
            <a:spLocks noGrp="1"/>
          </p:cNvSpPr>
          <p:nvPr/>
        </p:nvSpPr>
        <p:spPr>
          <a:xfrm>
            <a:off x="0" y="3810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Farnsworth technical overview background 25"/>
          <p:cNvSpPr>
            <a:spLocks noGrp="1"/>
          </p:cNvSpPr>
          <p:nvPr/>
        </p:nvSpPr>
        <p:spPr>
          <a:xfrm>
            <a:off x="0" y="457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Farnsworth technical overview background 26"/>
          <p:cNvSpPr>
            <a:spLocks noGrp="1"/>
          </p:cNvSpPr>
          <p:nvPr/>
        </p:nvSpPr>
        <p:spPr>
          <a:xfrm>
            <a:off x="0" y="533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Farnsworth technical overview background 27"/>
          <p:cNvSpPr>
            <a:spLocks noGrp="1"/>
          </p:cNvSpPr>
          <p:nvPr/>
        </p:nvSpPr>
        <p:spPr>
          <a:xfrm>
            <a:off x="0" y="609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Farnsworth technical overview background 28"/>
          <p:cNvSpPr>
            <a:spLocks noGrp="1"/>
          </p:cNvSpPr>
          <p:nvPr/>
        </p:nvSpPr>
        <p:spPr>
          <a:xfrm>
            <a:off x="0" y="685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23" name="Google Shape;123;p4"/>
          <p:cNvCxnSpPr/>
          <p:nvPr/>
        </p:nvCxnSpPr>
        <p:spPr>
          <a:xfrm flipH="1">
            <a:off x="1354633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4"/>
          <p:cNvCxnSpPr/>
          <p:nvPr/>
        </p:nvCxnSpPr>
        <p:spPr>
          <a:xfrm flipH="1">
            <a:off x="2709265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4"/>
          <p:cNvCxnSpPr/>
          <p:nvPr/>
        </p:nvCxnSpPr>
        <p:spPr>
          <a:xfrm flipH="1">
            <a:off x="4063898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4"/>
          <p:cNvCxnSpPr/>
          <p:nvPr/>
        </p:nvCxnSpPr>
        <p:spPr>
          <a:xfrm flipH="1">
            <a:off x="5418530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 flipH="1">
            <a:off x="6773164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4"/>
          <p:cNvCxnSpPr/>
          <p:nvPr/>
        </p:nvCxnSpPr>
        <p:spPr>
          <a:xfrm flipH="1">
            <a:off x="8127796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4"/>
          <p:cNvCxnSpPr/>
          <p:nvPr/>
        </p:nvCxnSpPr>
        <p:spPr>
          <a:xfrm flipH="1">
            <a:off x="9482429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4"/>
          <p:cNvCxnSpPr/>
          <p:nvPr/>
        </p:nvCxnSpPr>
        <p:spPr>
          <a:xfrm flipH="1">
            <a:off x="10837061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4"/>
          <p:cNvCxnSpPr/>
          <p:nvPr/>
        </p:nvCxnSpPr>
        <p:spPr>
          <a:xfrm>
            <a:off x="-1" y="13716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-1" y="27432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4"/>
          <p:cNvCxnSpPr/>
          <p:nvPr/>
        </p:nvCxnSpPr>
        <p:spPr>
          <a:xfrm>
            <a:off x="-1" y="41148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4"/>
          <p:cNvCxnSpPr/>
          <p:nvPr/>
        </p:nvCxnSpPr>
        <p:spPr>
          <a:xfrm>
            <a:off x="-1" y="54864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4"/>
          <p:cNvSpPr txBox="1"/>
          <p:nvPr/>
        </p:nvSpPr>
        <p:spPr>
          <a:xfrm>
            <a:off x="758951" y="366147"/>
            <a:ext cx="7315201" cy="13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SAMPLE FILE REVIEW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5943600" y="366090"/>
            <a:ext cx="54864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Helvetica Neue"/>
              <a:buNone/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× FARNSWORTH / 04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758952" y="932688"/>
            <a:ext cx="10671048" cy="83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700"/>
              <a:buFont typeface="Helvetica Neue"/>
              <a:buNone/>
            </a:pPr>
            <a:r>
              <a:rPr b="1" i="0" lang="en-US" sz="27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May 26 file: 1,036 respondents and zero recommended exclusions.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758951" y="2240279"/>
            <a:ext cx="9875522" cy="425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Helvetica Neue"/>
              <a:buNone/>
            </a:pPr>
            <a:r>
              <a:rPr b="0" i="0" lang="en-US" sz="14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current AI workflow already flags speeders, straight-lining, brand inconsistency, weak or AI-like open-ends, and duplicate IPs. Here is what it returned on the convenience-store / gas-station study.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758951" y="3437104"/>
            <a:ext cx="1841602" cy="669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400"/>
              <a:buFont typeface="Helvetica Neue"/>
              <a:buNone/>
            </a:pPr>
            <a:r>
              <a:rPr b="1" i="0" lang="en-US" sz="44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1,036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758951" y="4287330"/>
            <a:ext cx="1841602" cy="148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REVIEWED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2780284" y="3474720"/>
            <a:ext cx="12701" cy="1051561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2966314" y="3437104"/>
            <a:ext cx="1841602" cy="669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400"/>
              <a:buFont typeface="Helvetica Neue"/>
              <a:buNone/>
            </a:pPr>
            <a:r>
              <a:rPr b="1" i="0" lang="en-US" sz="44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988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2966314" y="4287330"/>
            <a:ext cx="1841602" cy="148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KEEP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4987645" y="3474720"/>
            <a:ext cx="12701" cy="1051561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173674" y="3437104"/>
            <a:ext cx="1841602" cy="669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400"/>
              <a:buFont typeface="Helvetica Neue"/>
              <a:buNone/>
            </a:pPr>
            <a:r>
              <a:rPr b="1" i="0" lang="en-US" sz="44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45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5173674" y="4287330"/>
            <a:ext cx="1841602" cy="148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LIGHT REVIEW</a:t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7195007" y="3474720"/>
            <a:ext cx="12701" cy="1051561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7381037" y="3437104"/>
            <a:ext cx="1841602" cy="669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400"/>
              <a:buFont typeface="Helvetica Neue"/>
              <a:buNone/>
            </a:pPr>
            <a:r>
              <a:rPr b="1" i="0" lang="en-US" sz="44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7381037" y="4287330"/>
            <a:ext cx="1841602" cy="148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 CLOSELY</a:t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9402368" y="3474720"/>
            <a:ext cx="12701" cy="1051561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9588397" y="3437104"/>
            <a:ext cx="1841602" cy="669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400"/>
              <a:buFont typeface="Helvetica Neue"/>
              <a:buNone/>
            </a:pPr>
            <a:r>
              <a:rPr b="1" i="0" lang="en-US" sz="44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9588397" y="4287330"/>
            <a:ext cx="1841602" cy="148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/ EXCLUDE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758951" y="5285232"/>
            <a:ext cx="2286001" cy="136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ADOPTION GAP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3227831" y="5257799"/>
            <a:ext cx="8202170" cy="398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AI flagged 785 respondents on open-ends — 557 at moderate-or-higher concern — yet recommended zero exclusions. PMs are left to reconcile “look harder at 785, cut none” by hand. That reconciliation is the gap: an annotation assistant, not trusted decision support. Closing it is the entire point of this engagement.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Farnsworth technical overview background 01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F7F5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Farnsworth technical overview background 02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Farnsworth technical overview background 03"/>
          <p:cNvSpPr>
            <a:spLocks noGrp="1"/>
          </p:cNvSpPr>
          <p:nvPr/>
        </p:nvSpPr>
        <p:spPr>
          <a:xfrm>
            <a:off x="76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Farnsworth technical overview background 04"/>
          <p:cNvSpPr>
            <a:spLocks noGrp="1"/>
          </p:cNvSpPr>
          <p:nvPr/>
        </p:nvSpPr>
        <p:spPr>
          <a:xfrm>
            <a:off x="152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Farnsworth technical overview background 05"/>
          <p:cNvSpPr>
            <a:spLocks noGrp="1"/>
          </p:cNvSpPr>
          <p:nvPr/>
        </p:nvSpPr>
        <p:spPr>
          <a:xfrm>
            <a:off x="228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Farnsworth technical overview background 06"/>
          <p:cNvSpPr>
            <a:spLocks noGrp="1"/>
          </p:cNvSpPr>
          <p:nvPr/>
        </p:nvSpPr>
        <p:spPr>
          <a:xfrm>
            <a:off x="304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Farnsworth technical overview background 07"/>
          <p:cNvSpPr>
            <a:spLocks noGrp="1"/>
          </p:cNvSpPr>
          <p:nvPr/>
        </p:nvSpPr>
        <p:spPr>
          <a:xfrm>
            <a:off x="381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Farnsworth technical overview background 08"/>
          <p:cNvSpPr>
            <a:spLocks noGrp="1"/>
          </p:cNvSpPr>
          <p:nvPr/>
        </p:nvSpPr>
        <p:spPr>
          <a:xfrm>
            <a:off x="457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Farnsworth technical overview background 09"/>
          <p:cNvSpPr>
            <a:spLocks noGrp="1"/>
          </p:cNvSpPr>
          <p:nvPr/>
        </p:nvSpPr>
        <p:spPr>
          <a:xfrm>
            <a:off x="533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Farnsworth technical overview background 10"/>
          <p:cNvSpPr>
            <a:spLocks noGrp="1"/>
          </p:cNvSpPr>
          <p:nvPr/>
        </p:nvSpPr>
        <p:spPr>
          <a:xfrm>
            <a:off x="609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arnsworth technical overview background 11"/>
          <p:cNvSpPr>
            <a:spLocks noGrp="1"/>
          </p:cNvSpPr>
          <p:nvPr/>
        </p:nvSpPr>
        <p:spPr>
          <a:xfrm>
            <a:off x="685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Farnsworth technical overview background 12"/>
          <p:cNvSpPr>
            <a:spLocks noGrp="1"/>
          </p:cNvSpPr>
          <p:nvPr/>
        </p:nvSpPr>
        <p:spPr>
          <a:xfrm>
            <a:off x="762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arnsworth technical overview background 13"/>
          <p:cNvSpPr>
            <a:spLocks noGrp="1"/>
          </p:cNvSpPr>
          <p:nvPr/>
        </p:nvSpPr>
        <p:spPr>
          <a:xfrm>
            <a:off x="838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Farnsworth technical overview background 14"/>
          <p:cNvSpPr>
            <a:spLocks noGrp="1"/>
          </p:cNvSpPr>
          <p:nvPr/>
        </p:nvSpPr>
        <p:spPr>
          <a:xfrm>
            <a:off x="914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Farnsworth technical overview background 15"/>
          <p:cNvSpPr>
            <a:spLocks noGrp="1"/>
          </p:cNvSpPr>
          <p:nvPr/>
        </p:nvSpPr>
        <p:spPr>
          <a:xfrm>
            <a:off x="990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Farnsworth technical overview background 16"/>
          <p:cNvSpPr>
            <a:spLocks noGrp="1"/>
          </p:cNvSpPr>
          <p:nvPr/>
        </p:nvSpPr>
        <p:spPr>
          <a:xfrm>
            <a:off x="1066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Farnsworth technical overview background 17"/>
          <p:cNvSpPr>
            <a:spLocks noGrp="1"/>
          </p:cNvSpPr>
          <p:nvPr/>
        </p:nvSpPr>
        <p:spPr>
          <a:xfrm>
            <a:off x="1143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Farnsworth technical overview background 18"/>
          <p:cNvSpPr>
            <a:spLocks noGrp="1"/>
          </p:cNvSpPr>
          <p:nvPr/>
        </p:nvSpPr>
        <p:spPr>
          <a:xfrm>
            <a:off x="1219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Farnsworth technical overview background 19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Farnsworth technical overview background 20"/>
          <p:cNvSpPr>
            <a:spLocks noGrp="1"/>
          </p:cNvSpPr>
          <p:nvPr/>
        </p:nvSpPr>
        <p:spPr>
          <a:xfrm>
            <a:off x="0" y="76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Farnsworth technical overview background 21"/>
          <p:cNvSpPr>
            <a:spLocks noGrp="1"/>
          </p:cNvSpPr>
          <p:nvPr/>
        </p:nvSpPr>
        <p:spPr>
          <a:xfrm>
            <a:off x="0" y="152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Farnsworth technical overview background 22"/>
          <p:cNvSpPr>
            <a:spLocks noGrp="1"/>
          </p:cNvSpPr>
          <p:nvPr/>
        </p:nvSpPr>
        <p:spPr>
          <a:xfrm>
            <a:off x="0" y="228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Farnsworth technical overview background 23"/>
          <p:cNvSpPr>
            <a:spLocks noGrp="1"/>
          </p:cNvSpPr>
          <p:nvPr/>
        </p:nvSpPr>
        <p:spPr>
          <a:xfrm>
            <a:off x="0" y="304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Farnsworth technical overview background 24"/>
          <p:cNvSpPr>
            <a:spLocks noGrp="1"/>
          </p:cNvSpPr>
          <p:nvPr/>
        </p:nvSpPr>
        <p:spPr>
          <a:xfrm>
            <a:off x="0" y="3810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Farnsworth technical overview background 25"/>
          <p:cNvSpPr>
            <a:spLocks noGrp="1"/>
          </p:cNvSpPr>
          <p:nvPr/>
        </p:nvSpPr>
        <p:spPr>
          <a:xfrm>
            <a:off x="0" y="457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Farnsworth technical overview background 26"/>
          <p:cNvSpPr>
            <a:spLocks noGrp="1"/>
          </p:cNvSpPr>
          <p:nvPr/>
        </p:nvSpPr>
        <p:spPr>
          <a:xfrm>
            <a:off x="0" y="533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Farnsworth technical overview background 27"/>
          <p:cNvSpPr>
            <a:spLocks noGrp="1"/>
          </p:cNvSpPr>
          <p:nvPr/>
        </p:nvSpPr>
        <p:spPr>
          <a:xfrm>
            <a:off x="0" y="609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Farnsworth technical overview background 28"/>
          <p:cNvSpPr>
            <a:spLocks noGrp="1"/>
          </p:cNvSpPr>
          <p:nvPr/>
        </p:nvSpPr>
        <p:spPr>
          <a:xfrm>
            <a:off x="0" y="685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extBox 1"/>
          <p:cNvSpPr txBox="1"/>
          <p:nvPr/>
        </p:nvSpPr>
        <p:spPr>
          <a:xfrm>
            <a:off x="758951" y="366147"/>
            <a:ext cx="7315201" cy="136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1">
                <a:solidFill>
                  <a:srgbClr val="0A0A0A"/>
                </a:solidFill>
                <a:latin typeface="Helvetica Neue"/>
              </a:rPr>
              <a:t>WHY BAD DATA GETS IN — AND WHY A STATIC GPT CAN'T KEEP IT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66090"/>
            <a:ext cx="5486400" cy="13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× FARNSWORTH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32688"/>
            <a:ext cx="10671048" cy="42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A0A0A"/>
                </a:solidFill>
                <a:latin typeface="Helvetica Neue"/>
              </a:rPr>
              <a:t>The adoption gap exists because the hardest fraud now looks plausible, especially in open-ends.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1" y="1785000"/>
            <a:ext cx="5074922" cy="3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272" y="2065000"/>
            <a:ext cx="502920" cy="45721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235000"/>
            <a:ext cx="452628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Helvetica Neue"/>
              </a:rPr>
              <a:t>THE FRAUD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545000"/>
            <a:ext cx="4526280" cy="3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35353"/>
                </a:solidFill>
                <a:latin typeface="Helvetica Neue"/>
              </a:rPr>
              <a:t>Why the data is wrong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895000"/>
            <a:ext cx="4526280" cy="21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C1C1C"/>
                </a:solidFill>
                <a:latin typeface="Helvetica Neue"/>
              </a:rPr>
              <a:t>Bad actors take surveys to earn the incentive, not answer honestly.</a:t>
            </a:r>
          </a:p>
          <a:p>
            <a:pPr algn="l">
              <a:spcAft>
                <a:spcPts val="0"/>
              </a:spcAft>
            </a:pPr>
            <a:r>
              <a:rPr sz="1019" b="0">
                <a:solidFill>
                  <a:srgbClr val="1C1C1C"/>
                </a:solidFill>
                <a:latin typeface="Helvetica Neue"/>
              </a:rPr>
              <a:t>They impersonate the target profile — claiming to be construction / home-improvement pros they aren't.</a:t>
            </a:r>
          </a:p>
          <a:p>
            <a:pPr algn="l">
              <a:spcAft>
                <a:spcPts val="0"/>
              </a:spcAft>
            </a:pPr>
            <a:r>
              <a:rPr sz="1019" b="0">
                <a:solidFill>
                  <a:srgbClr val="1C1C1C"/>
                </a:solidFill>
                <a:latin typeface="Helvetica Neue"/>
              </a:rPr>
              <a:t>They speed, straightline grids, and duplicate entries to farm more completes.</a:t>
            </a:r>
          </a:p>
          <a:p>
            <a:pPr algn="l">
              <a:spcAft>
                <a:spcPts val="0"/>
              </a:spcAft>
            </a:pPr>
            <a:r>
              <a:rPr sz="1019" b="0">
                <a:solidFill>
                  <a:srgbClr val="1C1C1C"/>
                </a:solidFill>
                <a:latin typeface="Helvetica Neue"/>
              </a:rPr>
              <a:t>They use AI to generate plausible open-ends — defeating the filter Farnsworth relies on most.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019" b="0">
                <a:solidFill>
                  <a:srgbClr val="1C1C1C"/>
                </a:solidFill>
                <a:latin typeface="Helvetica Neue"/>
              </a:rPr>
              <a:t>On the May 26 file, rules cleanly caught 4 speeders, 35 straightliners, and 47 brand inconsistencies. But 785 respondents drew open-end concern — exactly where fraud is hardest to judge and where trust breaks down.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79" y="1785000"/>
            <a:ext cx="5074922" cy="3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2065000"/>
            <a:ext cx="502920" cy="45721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235000"/>
            <a:ext cx="452628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Helvetica Neue"/>
              </a:rPr>
              <a:t>STATIC GPT ANNOTATES; AGENTS 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545000"/>
            <a:ext cx="4526280" cy="3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35353"/>
                </a:solidFill>
                <a:latin typeface="Helvetica Neue"/>
              </a:rPr>
              <a:t>Why agents close the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95000"/>
            <a:ext cx="4526280" cy="21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C1C1C"/>
                </a:solidFill>
                <a:latin typeface="Helvetica Neue"/>
              </a:rPr>
              <a:t>Today's GPT uses heuristic open-end tells — length, em-dashes, trailing periods — that AI-assisted fraud can defeat. It recommends nothing, so PMs re-read everything: too slow, not trusted, and no company-wide adoption in a year.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019" b="0">
                <a:solidFill>
                  <a:srgbClr val="1C1C1C"/>
                </a:solidFill>
                <a:latin typeface="Helvetica Neue"/>
              </a:rPr>
              <a:t>The agentic approach reviews every respondent across all signals at once; cross-checks claimed identity against answers; attaches quoted evidence + confidence to each call; routes only exceptions to PMs; and learns from every override, so it sharpens instead of staying static.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1" y="5480000"/>
            <a:ext cx="10671048" cy="760000"/>
          </a:xfrm>
          <a:prstGeom prst="rect">
            <a:avLst/>
          </a:prstGeom>
          <a:solidFill>
            <a:srgbClr val="F6F6F6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5610000"/>
            <a:ext cx="10058401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0A0A0A"/>
                </a:solidFill>
                <a:latin typeface="Helvetica Neue"/>
              </a:rPr>
              <a:t>OUTCOME: Catch more real fraud, trust the call, and review only what needs a human — the gap a one-shot prompt can't close.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Farnsworth technical overview background 01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F7F5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Farnsworth technical overview background 02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Farnsworth technical overview background 03"/>
          <p:cNvSpPr>
            <a:spLocks noGrp="1"/>
          </p:cNvSpPr>
          <p:nvPr/>
        </p:nvSpPr>
        <p:spPr>
          <a:xfrm>
            <a:off x="76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Farnsworth technical overview background 04"/>
          <p:cNvSpPr>
            <a:spLocks noGrp="1"/>
          </p:cNvSpPr>
          <p:nvPr/>
        </p:nvSpPr>
        <p:spPr>
          <a:xfrm>
            <a:off x="152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Farnsworth technical overview background 05"/>
          <p:cNvSpPr>
            <a:spLocks noGrp="1"/>
          </p:cNvSpPr>
          <p:nvPr/>
        </p:nvSpPr>
        <p:spPr>
          <a:xfrm>
            <a:off x="228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Farnsworth technical overview background 06"/>
          <p:cNvSpPr>
            <a:spLocks noGrp="1"/>
          </p:cNvSpPr>
          <p:nvPr/>
        </p:nvSpPr>
        <p:spPr>
          <a:xfrm>
            <a:off x="304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Farnsworth technical overview background 07"/>
          <p:cNvSpPr>
            <a:spLocks noGrp="1"/>
          </p:cNvSpPr>
          <p:nvPr/>
        </p:nvSpPr>
        <p:spPr>
          <a:xfrm>
            <a:off x="381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Farnsworth technical overview background 08"/>
          <p:cNvSpPr>
            <a:spLocks noGrp="1"/>
          </p:cNvSpPr>
          <p:nvPr/>
        </p:nvSpPr>
        <p:spPr>
          <a:xfrm>
            <a:off x="457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Farnsworth technical overview background 09"/>
          <p:cNvSpPr>
            <a:spLocks noGrp="1"/>
          </p:cNvSpPr>
          <p:nvPr/>
        </p:nvSpPr>
        <p:spPr>
          <a:xfrm>
            <a:off x="533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Farnsworth technical overview background 10"/>
          <p:cNvSpPr>
            <a:spLocks noGrp="1"/>
          </p:cNvSpPr>
          <p:nvPr/>
        </p:nvSpPr>
        <p:spPr>
          <a:xfrm>
            <a:off x="609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Farnsworth technical overview background 11"/>
          <p:cNvSpPr>
            <a:spLocks noGrp="1"/>
          </p:cNvSpPr>
          <p:nvPr/>
        </p:nvSpPr>
        <p:spPr>
          <a:xfrm>
            <a:off x="685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Farnsworth technical overview background 12"/>
          <p:cNvSpPr>
            <a:spLocks noGrp="1"/>
          </p:cNvSpPr>
          <p:nvPr/>
        </p:nvSpPr>
        <p:spPr>
          <a:xfrm>
            <a:off x="762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Farnsworth technical overview background 13"/>
          <p:cNvSpPr>
            <a:spLocks noGrp="1"/>
          </p:cNvSpPr>
          <p:nvPr/>
        </p:nvSpPr>
        <p:spPr>
          <a:xfrm>
            <a:off x="838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Farnsworth technical overview background 14"/>
          <p:cNvSpPr>
            <a:spLocks noGrp="1"/>
          </p:cNvSpPr>
          <p:nvPr/>
        </p:nvSpPr>
        <p:spPr>
          <a:xfrm>
            <a:off x="914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Farnsworth technical overview background 15"/>
          <p:cNvSpPr>
            <a:spLocks noGrp="1"/>
          </p:cNvSpPr>
          <p:nvPr/>
        </p:nvSpPr>
        <p:spPr>
          <a:xfrm>
            <a:off x="990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Farnsworth technical overview background 16"/>
          <p:cNvSpPr>
            <a:spLocks noGrp="1"/>
          </p:cNvSpPr>
          <p:nvPr/>
        </p:nvSpPr>
        <p:spPr>
          <a:xfrm>
            <a:off x="1066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Farnsworth technical overview background 17"/>
          <p:cNvSpPr>
            <a:spLocks noGrp="1"/>
          </p:cNvSpPr>
          <p:nvPr/>
        </p:nvSpPr>
        <p:spPr>
          <a:xfrm>
            <a:off x="1143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Farnsworth technical overview background 18"/>
          <p:cNvSpPr>
            <a:spLocks noGrp="1"/>
          </p:cNvSpPr>
          <p:nvPr/>
        </p:nvSpPr>
        <p:spPr>
          <a:xfrm>
            <a:off x="1219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Farnsworth technical overview background 19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Farnsworth technical overview background 20"/>
          <p:cNvSpPr>
            <a:spLocks noGrp="1"/>
          </p:cNvSpPr>
          <p:nvPr/>
        </p:nvSpPr>
        <p:spPr>
          <a:xfrm>
            <a:off x="0" y="76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Farnsworth technical overview background 21"/>
          <p:cNvSpPr>
            <a:spLocks noGrp="1"/>
          </p:cNvSpPr>
          <p:nvPr/>
        </p:nvSpPr>
        <p:spPr>
          <a:xfrm>
            <a:off x="0" y="152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Farnsworth technical overview background 22"/>
          <p:cNvSpPr>
            <a:spLocks noGrp="1"/>
          </p:cNvSpPr>
          <p:nvPr/>
        </p:nvSpPr>
        <p:spPr>
          <a:xfrm>
            <a:off x="0" y="228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Farnsworth technical overview background 23"/>
          <p:cNvSpPr>
            <a:spLocks noGrp="1"/>
          </p:cNvSpPr>
          <p:nvPr/>
        </p:nvSpPr>
        <p:spPr>
          <a:xfrm>
            <a:off x="0" y="304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Farnsworth technical overview background 24"/>
          <p:cNvSpPr>
            <a:spLocks noGrp="1"/>
          </p:cNvSpPr>
          <p:nvPr/>
        </p:nvSpPr>
        <p:spPr>
          <a:xfrm>
            <a:off x="0" y="3810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Farnsworth technical overview background 25"/>
          <p:cNvSpPr>
            <a:spLocks noGrp="1"/>
          </p:cNvSpPr>
          <p:nvPr/>
        </p:nvSpPr>
        <p:spPr>
          <a:xfrm>
            <a:off x="0" y="457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Farnsworth technical overview background 26"/>
          <p:cNvSpPr>
            <a:spLocks noGrp="1"/>
          </p:cNvSpPr>
          <p:nvPr/>
        </p:nvSpPr>
        <p:spPr>
          <a:xfrm>
            <a:off x="0" y="533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Farnsworth technical overview background 27"/>
          <p:cNvSpPr>
            <a:spLocks noGrp="1"/>
          </p:cNvSpPr>
          <p:nvPr/>
        </p:nvSpPr>
        <p:spPr>
          <a:xfrm>
            <a:off x="0" y="609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Farnsworth technical overview background 28"/>
          <p:cNvSpPr>
            <a:spLocks noGrp="1"/>
          </p:cNvSpPr>
          <p:nvPr/>
        </p:nvSpPr>
        <p:spPr>
          <a:xfrm>
            <a:off x="0" y="685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59" name="Google Shape;159;p5"/>
          <p:cNvCxnSpPr/>
          <p:nvPr/>
        </p:nvCxnSpPr>
        <p:spPr>
          <a:xfrm flipH="1">
            <a:off x="1354633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5"/>
          <p:cNvCxnSpPr/>
          <p:nvPr/>
        </p:nvCxnSpPr>
        <p:spPr>
          <a:xfrm flipH="1">
            <a:off x="2709265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5"/>
          <p:cNvCxnSpPr/>
          <p:nvPr/>
        </p:nvCxnSpPr>
        <p:spPr>
          <a:xfrm flipH="1">
            <a:off x="4063898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5"/>
          <p:cNvCxnSpPr/>
          <p:nvPr/>
        </p:nvCxnSpPr>
        <p:spPr>
          <a:xfrm flipH="1">
            <a:off x="5418530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5"/>
          <p:cNvCxnSpPr/>
          <p:nvPr/>
        </p:nvCxnSpPr>
        <p:spPr>
          <a:xfrm flipH="1">
            <a:off x="6773164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5"/>
          <p:cNvCxnSpPr/>
          <p:nvPr/>
        </p:nvCxnSpPr>
        <p:spPr>
          <a:xfrm flipH="1">
            <a:off x="8127796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5"/>
          <p:cNvCxnSpPr/>
          <p:nvPr/>
        </p:nvCxnSpPr>
        <p:spPr>
          <a:xfrm flipH="1">
            <a:off x="9482429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5"/>
          <p:cNvCxnSpPr/>
          <p:nvPr/>
        </p:nvCxnSpPr>
        <p:spPr>
          <a:xfrm flipH="1">
            <a:off x="10837061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5"/>
          <p:cNvCxnSpPr/>
          <p:nvPr/>
        </p:nvCxnSpPr>
        <p:spPr>
          <a:xfrm>
            <a:off x="-1" y="13716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5"/>
          <p:cNvCxnSpPr/>
          <p:nvPr/>
        </p:nvCxnSpPr>
        <p:spPr>
          <a:xfrm>
            <a:off x="-1" y="27432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5"/>
          <p:cNvCxnSpPr/>
          <p:nvPr/>
        </p:nvCxnSpPr>
        <p:spPr>
          <a:xfrm>
            <a:off x="-1" y="41148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5"/>
          <p:cNvCxnSpPr/>
          <p:nvPr/>
        </p:nvCxnSpPr>
        <p:spPr>
          <a:xfrm>
            <a:off x="-1" y="54864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5"/>
          <p:cNvSpPr txBox="1"/>
          <p:nvPr/>
        </p:nvSpPr>
        <p:spPr>
          <a:xfrm>
            <a:off x="758951" y="366147"/>
            <a:ext cx="7315201" cy="13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TO EXPECT</a:t>
            </a:r>
            <a:endParaRPr/>
          </a:p>
        </p:txBody>
      </p:sp>
      <p:sp>
        <p:nvSpPr>
          <p:cNvPr id="172" name="Google Shape;172;p5"/>
          <p:cNvSpPr txBox="1"/>
          <p:nvPr/>
        </p:nvSpPr>
        <p:spPr>
          <a:xfrm>
            <a:off x="5943600" y="366090"/>
            <a:ext cx="54864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Helvetica Neue"/>
              <a:buNone/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× FARNSWORTH / 06</a:t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758952" y="932688"/>
            <a:ext cx="10671048" cy="811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PM review shifts from re-reading the full file to a focused pass on only the respondents that need judgment.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758951" y="2514600"/>
            <a:ext cx="274321" cy="198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1069847" y="2514599"/>
            <a:ext cx="6400801" cy="185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PMs review far fewer respondents — on the May 26 file, 841 of 1,036 (81%) carried no concerns and would auto-clear, leaving only the ~48 that need judgment.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758951" y="3118104"/>
            <a:ext cx="274321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1069847" y="3118104"/>
            <a:ext cx="6400801" cy="1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trust in open-end review — instead of re-reading ~3,250 open-ends, PMs see only flagged ones, each with the quoted text and a reason.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758951" y="3721608"/>
            <a:ext cx="274321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1069847" y="3721608"/>
            <a:ext cx="6400801" cy="1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Cleaner, more consistent exclusion decisions across different PMs.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758951" y="4325111"/>
            <a:ext cx="274321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1069847" y="4325111"/>
            <a:ext cx="6400801" cy="185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defensible audit trail for how respondent quality was reviewed.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758951" y="4928615"/>
            <a:ext cx="274321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1069847" y="4928615"/>
            <a:ext cx="6400801" cy="185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None/>
            </a:pPr>
            <a:r>
              <a:rPr sz="1050" b="0">
                <a:solidFill>
                  <a:srgbClr val="1C1C1C"/>
                </a:solidFill>
                <a:latin typeface="Helvetica Neue"/>
              </a:rPr>
              <a:t>Because cleaning runs a few times a week on 50–200 respondents, cutting the per-cycle re-review compounds across every batch — the overhead drops every week, not once.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7818119" y="2331720"/>
            <a:ext cx="3611881" cy="338328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8092440" y="2656719"/>
            <a:ext cx="3063241" cy="13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SUCCESS TARGET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8092440" y="3044736"/>
            <a:ext cx="3063241" cy="210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Interim batches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8092440" y="3319271"/>
            <a:ext cx="3063241" cy="31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Move PM review toward a focused exception pass; the review-time reduction target is set and measured in Discovery.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8092440" y="4260888"/>
            <a:ext cx="3063241" cy="210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 closeout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8092440" y="4535423"/>
            <a:ext cx="3063241" cy="31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clean dataset, exclusion log, and summary PMs can approve with minimal rework.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Farnsworth technical overview background 01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F7F5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Farnsworth technical overview background 02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Farnsworth technical overview background 03"/>
          <p:cNvSpPr>
            <a:spLocks noGrp="1"/>
          </p:cNvSpPr>
          <p:nvPr/>
        </p:nvSpPr>
        <p:spPr>
          <a:xfrm>
            <a:off x="76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Farnsworth technical overview background 04"/>
          <p:cNvSpPr>
            <a:spLocks noGrp="1"/>
          </p:cNvSpPr>
          <p:nvPr/>
        </p:nvSpPr>
        <p:spPr>
          <a:xfrm>
            <a:off x="152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Farnsworth technical overview background 05"/>
          <p:cNvSpPr>
            <a:spLocks noGrp="1"/>
          </p:cNvSpPr>
          <p:nvPr/>
        </p:nvSpPr>
        <p:spPr>
          <a:xfrm>
            <a:off x="228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Farnsworth technical overview background 06"/>
          <p:cNvSpPr>
            <a:spLocks noGrp="1"/>
          </p:cNvSpPr>
          <p:nvPr/>
        </p:nvSpPr>
        <p:spPr>
          <a:xfrm>
            <a:off x="304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Farnsworth technical overview background 07"/>
          <p:cNvSpPr>
            <a:spLocks noGrp="1"/>
          </p:cNvSpPr>
          <p:nvPr/>
        </p:nvSpPr>
        <p:spPr>
          <a:xfrm>
            <a:off x="381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Farnsworth technical overview background 08"/>
          <p:cNvSpPr>
            <a:spLocks noGrp="1"/>
          </p:cNvSpPr>
          <p:nvPr/>
        </p:nvSpPr>
        <p:spPr>
          <a:xfrm>
            <a:off x="457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Farnsworth technical overview background 09"/>
          <p:cNvSpPr>
            <a:spLocks noGrp="1"/>
          </p:cNvSpPr>
          <p:nvPr/>
        </p:nvSpPr>
        <p:spPr>
          <a:xfrm>
            <a:off x="533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Farnsworth technical overview background 10"/>
          <p:cNvSpPr>
            <a:spLocks noGrp="1"/>
          </p:cNvSpPr>
          <p:nvPr/>
        </p:nvSpPr>
        <p:spPr>
          <a:xfrm>
            <a:off x="609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Farnsworth technical overview background 11"/>
          <p:cNvSpPr>
            <a:spLocks noGrp="1"/>
          </p:cNvSpPr>
          <p:nvPr/>
        </p:nvSpPr>
        <p:spPr>
          <a:xfrm>
            <a:off x="685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Farnsworth technical overview background 12"/>
          <p:cNvSpPr>
            <a:spLocks noGrp="1"/>
          </p:cNvSpPr>
          <p:nvPr/>
        </p:nvSpPr>
        <p:spPr>
          <a:xfrm>
            <a:off x="762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Farnsworth technical overview background 13"/>
          <p:cNvSpPr>
            <a:spLocks noGrp="1"/>
          </p:cNvSpPr>
          <p:nvPr/>
        </p:nvSpPr>
        <p:spPr>
          <a:xfrm>
            <a:off x="838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Farnsworth technical overview background 14"/>
          <p:cNvSpPr>
            <a:spLocks noGrp="1"/>
          </p:cNvSpPr>
          <p:nvPr/>
        </p:nvSpPr>
        <p:spPr>
          <a:xfrm>
            <a:off x="914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Farnsworth technical overview background 15"/>
          <p:cNvSpPr>
            <a:spLocks noGrp="1"/>
          </p:cNvSpPr>
          <p:nvPr/>
        </p:nvSpPr>
        <p:spPr>
          <a:xfrm>
            <a:off x="990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Farnsworth technical overview background 16"/>
          <p:cNvSpPr>
            <a:spLocks noGrp="1"/>
          </p:cNvSpPr>
          <p:nvPr/>
        </p:nvSpPr>
        <p:spPr>
          <a:xfrm>
            <a:off x="1066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Farnsworth technical overview background 17"/>
          <p:cNvSpPr>
            <a:spLocks noGrp="1"/>
          </p:cNvSpPr>
          <p:nvPr/>
        </p:nvSpPr>
        <p:spPr>
          <a:xfrm>
            <a:off x="1143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Farnsworth technical overview background 18"/>
          <p:cNvSpPr>
            <a:spLocks noGrp="1"/>
          </p:cNvSpPr>
          <p:nvPr/>
        </p:nvSpPr>
        <p:spPr>
          <a:xfrm>
            <a:off x="1219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Farnsworth technical overview background 19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Farnsworth technical overview background 20"/>
          <p:cNvSpPr>
            <a:spLocks noGrp="1"/>
          </p:cNvSpPr>
          <p:nvPr/>
        </p:nvSpPr>
        <p:spPr>
          <a:xfrm>
            <a:off x="0" y="76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Farnsworth technical overview background 21"/>
          <p:cNvSpPr>
            <a:spLocks noGrp="1"/>
          </p:cNvSpPr>
          <p:nvPr/>
        </p:nvSpPr>
        <p:spPr>
          <a:xfrm>
            <a:off x="0" y="152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Farnsworth technical overview background 22"/>
          <p:cNvSpPr>
            <a:spLocks noGrp="1"/>
          </p:cNvSpPr>
          <p:nvPr/>
        </p:nvSpPr>
        <p:spPr>
          <a:xfrm>
            <a:off x="0" y="228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Farnsworth technical overview background 23"/>
          <p:cNvSpPr>
            <a:spLocks noGrp="1"/>
          </p:cNvSpPr>
          <p:nvPr/>
        </p:nvSpPr>
        <p:spPr>
          <a:xfrm>
            <a:off x="0" y="304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Farnsworth technical overview background 24"/>
          <p:cNvSpPr>
            <a:spLocks noGrp="1"/>
          </p:cNvSpPr>
          <p:nvPr/>
        </p:nvSpPr>
        <p:spPr>
          <a:xfrm>
            <a:off x="0" y="3810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Farnsworth technical overview background 25"/>
          <p:cNvSpPr>
            <a:spLocks noGrp="1"/>
          </p:cNvSpPr>
          <p:nvPr/>
        </p:nvSpPr>
        <p:spPr>
          <a:xfrm>
            <a:off x="0" y="457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Farnsworth technical overview background 26"/>
          <p:cNvSpPr>
            <a:spLocks noGrp="1"/>
          </p:cNvSpPr>
          <p:nvPr/>
        </p:nvSpPr>
        <p:spPr>
          <a:xfrm>
            <a:off x="0" y="533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Farnsworth technical overview background 27"/>
          <p:cNvSpPr>
            <a:spLocks noGrp="1"/>
          </p:cNvSpPr>
          <p:nvPr/>
        </p:nvSpPr>
        <p:spPr>
          <a:xfrm>
            <a:off x="0" y="609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Farnsworth technical overview background 28"/>
          <p:cNvSpPr>
            <a:spLocks noGrp="1"/>
          </p:cNvSpPr>
          <p:nvPr/>
        </p:nvSpPr>
        <p:spPr>
          <a:xfrm>
            <a:off x="0" y="685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94" name="Google Shape;194;p6"/>
          <p:cNvCxnSpPr/>
          <p:nvPr/>
        </p:nvCxnSpPr>
        <p:spPr>
          <a:xfrm flipH="1">
            <a:off x="1354633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6"/>
          <p:cNvCxnSpPr/>
          <p:nvPr/>
        </p:nvCxnSpPr>
        <p:spPr>
          <a:xfrm flipH="1">
            <a:off x="2709265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6"/>
          <p:cNvCxnSpPr/>
          <p:nvPr/>
        </p:nvCxnSpPr>
        <p:spPr>
          <a:xfrm flipH="1">
            <a:off x="4063898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6"/>
          <p:cNvCxnSpPr/>
          <p:nvPr/>
        </p:nvCxnSpPr>
        <p:spPr>
          <a:xfrm flipH="1">
            <a:off x="5418530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6"/>
          <p:cNvCxnSpPr/>
          <p:nvPr/>
        </p:nvCxnSpPr>
        <p:spPr>
          <a:xfrm flipH="1">
            <a:off x="6773164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6"/>
          <p:cNvCxnSpPr/>
          <p:nvPr/>
        </p:nvCxnSpPr>
        <p:spPr>
          <a:xfrm flipH="1">
            <a:off x="8127796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6"/>
          <p:cNvCxnSpPr/>
          <p:nvPr/>
        </p:nvCxnSpPr>
        <p:spPr>
          <a:xfrm flipH="1">
            <a:off x="9482429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6"/>
          <p:cNvCxnSpPr/>
          <p:nvPr/>
        </p:nvCxnSpPr>
        <p:spPr>
          <a:xfrm flipH="1">
            <a:off x="10837061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6"/>
          <p:cNvCxnSpPr/>
          <p:nvPr/>
        </p:nvCxnSpPr>
        <p:spPr>
          <a:xfrm>
            <a:off x="-1" y="13716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6"/>
          <p:cNvCxnSpPr/>
          <p:nvPr/>
        </p:nvCxnSpPr>
        <p:spPr>
          <a:xfrm>
            <a:off x="-1" y="27432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6"/>
          <p:cNvCxnSpPr/>
          <p:nvPr/>
        </p:nvCxnSpPr>
        <p:spPr>
          <a:xfrm>
            <a:off x="-1" y="41148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6"/>
          <p:cNvCxnSpPr/>
          <p:nvPr/>
        </p:nvCxnSpPr>
        <p:spPr>
          <a:xfrm>
            <a:off x="-1" y="54864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6"/>
          <p:cNvSpPr txBox="1"/>
          <p:nvPr/>
        </p:nvSpPr>
        <p:spPr>
          <a:xfrm>
            <a:off x="758951" y="366147"/>
            <a:ext cx="7315201" cy="13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WE MEASURE SUCCESS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5943600" y="366090"/>
            <a:ext cx="54864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Helvetica Neue"/>
              <a:buNone/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× FARNSWORTH / 07</a:t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758952" y="932688"/>
            <a:ext cx="10671048" cy="4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Four dimensions define a successful pilot.</a:t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758951" y="2011679"/>
            <a:ext cx="5074922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033272" y="2304288"/>
            <a:ext cx="502920" cy="45721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1033272" y="2432304"/>
            <a:ext cx="4526280" cy="260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Helvetica Neue"/>
              <a:buNone/>
            </a:pPr>
            <a:r>
              <a:rPr b="1" i="0" lang="en-US" sz="17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Labor reduction</a:t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1033272" y="2880360"/>
            <a:ext cx="4526280" cy="494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Target: ≥50% review-time reduction, set in Discovery. No baseline exists today — Phase 1 establishes it from real exports (the May 26 file is our reference point), then tracks review time per batch and percent needing PM review.</a:t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6355079" y="2011679"/>
            <a:ext cx="5074921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629399" y="2304288"/>
            <a:ext cx="502921" cy="45721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6629400" y="2432304"/>
            <a:ext cx="4526280" cy="260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Helvetica Neue"/>
              <a:buNone/>
            </a:pPr>
            <a:r>
              <a:rPr b="1" i="0" lang="en-US" sz="17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Quality &amp; trust</a:t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6629400" y="2880360"/>
            <a:ext cx="4526280" cy="321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/ PM agreement by flag type · override rate · false-negative rate on known bad respondents · false positives on legitimate ones.</a:t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758951" y="4069079"/>
            <a:ext cx="5074922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033272" y="4361688"/>
            <a:ext cx="502920" cy="45721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1033272" y="4489703"/>
            <a:ext cx="4526280" cy="260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Helvetica Neue"/>
              <a:buNone/>
            </a:pPr>
            <a:r>
              <a:rPr b="1" i="0" lang="en-US" sz="17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Adoption</a:t>
            </a:r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1033272" y="4937759"/>
            <a:ext cx="4526280" cy="321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sz="1100" b="0">
                <a:solidFill>
                  <a:srgbClr val="1C1C1C"/>
                </a:solidFill>
                <a:latin typeface="Helvetica Neue"/>
              </a:rPr>
              <a:t>Company-wide adoption — the goal the current GPT never reached because it was too slow and not trusted.</a:t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6355079" y="4069079"/>
            <a:ext cx="5074921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629399" y="4361688"/>
            <a:ext cx="502921" cy="45721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6629400" y="4489703"/>
            <a:ext cx="4526280" cy="260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Helvetica Neue"/>
              <a:buNone/>
            </a:pPr>
            <a:r>
              <a:rPr b="1" i="0" lang="en-US" sz="17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 defensibility</a:t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6629400" y="4937759"/>
            <a:ext cx="4526280" cy="321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sz="1100" b="0">
                <a:solidFill>
                  <a:srgbClr val="1C1C1C"/>
                </a:solidFill>
                <a:latin typeface="Helvetica Neue"/>
              </a:rPr>
              <a:t>Data quality as a competitive differentiator Farnsworth can stand behind with clients — bad respondents never reach a deliverable.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Farnsworth technical overview background 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Farnsworth technical overview background 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Farnsworth technical overview background 0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Farnsworth technical overview background 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Farnsworth technical overview background 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Farnsworth technical overview background 0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Farnsworth technical overview background 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Farnsworth technical overview background 0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Farnsworth technical overview background 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Farnsworth technical overview background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Farnsworth technical overview background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Farnsworth technical overview background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Farnsworth technical overview background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Farnsworth technical overview background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Farnsworth technical overview background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Farnsworth technical overview background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Farnsworth technical overview background 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Farnsworth technical overview background 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Farnsworth technical overview background 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Farnsworth technical overview background 2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Farnsworth technical overview background 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Farnsworth technical overview background 2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Farnsworth technical overview background 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Farnsworth technical overview background 2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Farnsworth technical overview background 2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Farnsworth technical overview background 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Farnsworth technical overview background 2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Farnsworth technical overview background 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6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651FB8-75A1-4CA5-A3AE-418237E2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79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B856F6-849E-401B-8432-CA7F323C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1" y="366147"/>
            <a:ext cx="7315201" cy="136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788" b="1">
                <a:solidFill>
                  <a:srgbClr val="1E6F6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0A0A0A"/>
                </a:solidFill>
                <a:latin typeface="Helvetica Neue"/>
              </a:rPr>
              <a:t>TECHNICAL OVERVIEW / SURVEY FRAUD AGENTS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3E151B-6C3F-4727-87EA-2592C8BE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6090"/>
            <a:ext cx="5486400" cy="13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defRPr sz="788" b="0">
                <a:solidFill>
                  <a:srgbClr val="566273"/>
                </a:solidFill>
                <a:latin typeface="IBM Plex Mono"/>
                <a:ea typeface="IBM Plex Mono"/>
                <a:cs typeface="IBM Plex Mono"/>
              </a:defRPr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× FARNSWORTH / 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9B7658-F40C-48CC-B3F8-134DD31B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800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2430"/>
                </a:solidFill>
                <a:latin typeface="Source Serif 4"/>
                <a:ea typeface="Source Serif 4"/>
                <a:cs typeface="Source Serif 4"/>
              </a:defRPr>
            </a:pPr>
            <a:r>
              <a:rPr sz="2175" b="1">
                <a:solidFill>
                  <a:srgbClr val="1D2430"/>
                </a:solidFill>
                <a:latin typeface="Source Serif 4"/>
                <a:ea typeface="Source Serif 4"/>
                <a:cs typeface="Source Serif 4"/>
              </a:rPr>
              <a:t>Construct agents that convert subtle survey fraud signals into evidence-backed exception review.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052427-ABCB-48E9-8F12-6C73B852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66273"/>
                </a:solidFill>
                <a:latin typeface="DM Sans"/>
                <a:ea typeface="DM Sans"/>
                <a:cs typeface="DM Sans"/>
              </a:defRPr>
            </a:pPr>
            <a:r>
              <a:rPr sz="1088" b="0">
                <a:solidFill>
                  <a:srgbClr val="566273"/>
                </a:solidFill>
                <a:latin typeface="DM Sans"/>
                <a:ea typeface="DM Sans"/>
                <a:cs typeface="DM Sans"/>
              </a:rPr>
              <a:t>Objective: protect Farnsworth deliverables by catching patterns humans miss at scale while moving PMs from full-file re-review to a prioritized queue.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288AC1-91CD-4306-8D0B-F89C2F48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066800"/>
            <a:ext cx="3124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36F960-BFF3-4847-9D1F-52B53860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14425"/>
            <a:ext cx="3124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6F6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E6F68"/>
                </a:solidFill>
                <a:latin typeface="IBM Plex Mono"/>
                <a:ea typeface="IBM Plex Mono"/>
                <a:cs typeface="IBM Plex Mono"/>
              </a:rPr>
              <a:t>Every flag = reason + evidence + confidence + action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28F1BF-7341-4F03-85FF-02881BC3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39065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1F50BF-7DE9-48B6-8BD9-256BA51C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38275"/>
            <a:ext cx="2476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96B33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B96B33"/>
                </a:solidFill>
                <a:latin typeface="IBM Plex Mono"/>
                <a:ea typeface="IBM Plex Mono"/>
                <a:cs typeface="IBM Plex Mono"/>
              </a:rPr>
              <a:t>PM overrides tune thresholds by study type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FF9D20-88CB-4950-816C-CE613FAF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19431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A2E955-F532-463C-AFCD-F51B14B4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E6F68"/>
                </a:solidFill>
                <a:latin typeface="IBM Plex Mono"/>
                <a:ea typeface="IBM Plex Mono"/>
                <a:cs typeface="IBM Plex Mono"/>
              </a:defRPr>
            </a:pPr>
            <a:r>
              <a:rPr sz="788" b="1">
                <a:solidFill>
                  <a:srgbClr val="1E6F68"/>
                </a:solidFill>
                <a:latin typeface="IBM Plex Mono"/>
                <a:ea typeface="IBM Plex Mono"/>
                <a:cs typeface="IBM Plex Mono"/>
              </a:rPr>
              <a:t>INPUTS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5CAC2D-6950-4F6C-AD20-F915ACB7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30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1D2430"/>
                </a:solidFill>
                <a:latin typeface="DM Sans"/>
                <a:ea typeface="DM Sans"/>
                <a:cs typeface="DM Sans"/>
              </a:rPr>
              <a:t>Survey evidence stream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140A91-F12D-490B-9114-382E7DF7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600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273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566273"/>
                </a:solidFill>
                <a:latin typeface="DM Sans"/>
                <a:ea typeface="DM Sans"/>
                <a:cs typeface="DM Sans"/>
              </a:rPr>
              <a:t>Decipher export + datamap</a:t>
            </a:r>
          </a:p>
          <a:p xmlns:a="http://schemas.openxmlformats.org/drawingml/2006/main">
            <a:pPr algn="l">
              <a:defRPr sz="900" b="0">
                <a:solidFill>
                  <a:srgbClr val="566273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566273"/>
                </a:solidFill>
                <a:latin typeface="DM Sans"/>
                <a:ea typeface="DM Sans"/>
                <a:cs typeface="DM Sans"/>
              </a:rPr>
              <a:t>Likert batteries</a:t>
            </a:r>
          </a:p>
          <a:p xmlns:a="http://schemas.openxmlformats.org/drawingml/2006/main">
            <a:pPr algn="l">
              <a:defRPr sz="900" b="0">
                <a:solidFill>
                  <a:srgbClr val="566273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566273"/>
                </a:solidFill>
                <a:latin typeface="DM Sans"/>
                <a:ea typeface="DM Sans"/>
                <a:cs typeface="DM Sans"/>
              </a:rPr>
              <a:t>Open-end verbatims</a:t>
            </a:r>
          </a:p>
          <a:p xmlns:a="http://schemas.openxmlformats.org/drawingml/2006/main">
            <a:pPr algn="l">
              <a:defRPr sz="900" b="0">
                <a:solidFill>
                  <a:srgbClr val="566273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566273"/>
                </a:solidFill>
                <a:latin typeface="DM Sans"/>
                <a:ea typeface="DM Sans"/>
                <a:cs typeface="DM Sans"/>
              </a:rPr>
              <a:t>Timing, device, IP, source</a:t>
            </a:r>
          </a:p>
          <a:p xmlns:a="http://schemas.openxmlformats.org/drawingml/2006/main">
            <a:pPr algn="l">
              <a:defRPr sz="900" b="0">
                <a:solidFill>
                  <a:srgbClr val="566273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566273"/>
                </a:solidFill>
                <a:latin typeface="DM Sans"/>
                <a:ea typeface="DM Sans"/>
                <a:cs typeface="DM Sans"/>
              </a:rPr>
              <a:t>Historical panel responses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0B2B42-7F85-487A-BE60-EFF563F7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476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7F54FF-F23D-4AAB-8F60-C691C64F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67325"/>
            <a:ext cx="1476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02C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7202C"/>
                </a:solidFill>
                <a:latin typeface="IBM Plex Mono"/>
                <a:ea typeface="IBM Plex Mono"/>
                <a:cs typeface="IBM Plex Mono"/>
              </a:rPr>
              <a:t>Respondent ID spine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BD7469-0CC1-427E-85FF-6A35AA4B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9092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68"/>
          </a:solidFill>
          <a:ln xmlns:a="http://schemas.openxmlformats.org/drawingml/2006/main" w="0">
            <a:solidFill>
              <a:srgbClr val="1E6F6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73FC25-D494-4AEA-9973-2689323F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43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68"/>
          </a:solidFill>
          <a:ln xmlns:a="http://schemas.openxmlformats.org/drawingml/2006/main" w="0">
            <a:solidFill>
              <a:srgbClr val="1E6F6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A76A3C-AF50-4E9C-9DC1-57717D4B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52650"/>
            <a:ext cx="50292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6CCB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1EE20B-89DD-4A7A-8BBD-D697C6EE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E6F68"/>
                </a:solidFill>
                <a:latin typeface="IBM Plex Mono"/>
                <a:ea typeface="IBM Plex Mono"/>
                <a:cs typeface="IBM Plex Mono"/>
              </a:defRPr>
            </a:pPr>
            <a:r>
              <a:rPr sz="788" b="1">
                <a:solidFill>
                  <a:srgbClr val="1E6F68"/>
                </a:solidFill>
                <a:latin typeface="IBM Plex Mono"/>
                <a:ea typeface="IBM Plex Mono"/>
                <a:cs typeface="IBM Plex Mono"/>
              </a:rPr>
              <a:t>SPECIALIST FRAUD-AGENT ENSEMBLE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A7099C-88E6-4BD5-9CDC-B1789DF1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66273"/>
                </a:solidFill>
                <a:latin typeface="DM Sans"/>
                <a:ea typeface="DM Sans"/>
                <a:cs typeface="DM Sans"/>
              </a:defRPr>
            </a:pPr>
            <a:r>
              <a:rPr sz="938" b="0">
                <a:solidFill>
                  <a:srgbClr val="566273"/>
                </a:solidFill>
                <a:latin typeface="DM Sans"/>
                <a:ea typeface="DM Sans"/>
                <a:cs typeface="DM Sans"/>
              </a:rPr>
              <a:t>Each agent produces a normalized suspicion score and the evidence fields needed for PM review.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01B249-1562-44D1-8B8A-C6BF44F0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28950"/>
            <a:ext cx="2152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27F395-475D-4F2F-B57F-168B7525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623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D2430"/>
                </a:solidFill>
                <a:latin typeface="DM Sans"/>
                <a:ea typeface="DM Sans"/>
                <a:cs typeface="DM Sans"/>
              </a:defRPr>
            </a:pPr>
            <a:r>
              <a:rPr sz="1065" b="1">
                <a:solidFill>
                  <a:srgbClr val="1D2430"/>
                </a:solidFill>
                <a:latin typeface="DM Sans"/>
                <a:ea typeface="DM Sans"/>
                <a:cs typeface="DM Sans"/>
              </a:rPr>
              <a:t>Response Pattern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5A8F95-B739-4CAF-8C5D-5FDBAD84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0425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66273"/>
                </a:solidFill>
                <a:latin typeface="DM Sans"/>
                <a:ea typeface="DM Sans"/>
                <a:cs typeface="DM Sans"/>
              </a:defRPr>
            </a:pPr>
            <a:r>
              <a:rPr sz="705" b="0">
                <a:solidFill>
                  <a:srgbClr val="566273"/>
                </a:solidFill>
                <a:latin typeface="DM Sans"/>
                <a:ea typeface="DM Sans"/>
                <a:cs typeface="DM Sans"/>
              </a:rPr>
              <a:t>Straightlining, acquiescence, ERS; context from item direction and open-end effort.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CC0954-9A40-44A1-858E-87F326D4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28950"/>
            <a:ext cx="2152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ACAFB2-1159-4CB5-93C6-4CC728EB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623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D2430"/>
                </a:solidFill>
                <a:latin typeface="DM Sans"/>
                <a:ea typeface="DM Sans"/>
                <a:cs typeface="DM Sans"/>
              </a:defRPr>
            </a:pPr>
            <a:r>
              <a:rPr sz="1065" b="1">
                <a:solidFill>
                  <a:srgbClr val="1D2430"/>
                </a:solidFill>
                <a:latin typeface="DM Sans"/>
                <a:ea typeface="DM Sans"/>
                <a:cs typeface="DM Sans"/>
              </a:rPr>
              <a:t>Longitudinal / Panel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A01D72-C9E2-4532-9AB6-DCCABD0D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00425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66273"/>
                </a:solidFill>
                <a:latin typeface="DM Sans"/>
                <a:ea typeface="DM Sans"/>
                <a:cs typeface="DM Sans"/>
              </a:defRPr>
            </a:pPr>
            <a:r>
              <a:rPr sz="705" b="0">
                <a:solidFill>
                  <a:srgbClr val="566273"/>
                </a:solidFill>
                <a:latin typeface="DM Sans"/>
                <a:ea typeface="DM Sans"/>
                <a:cs typeface="DM Sans"/>
              </a:rPr>
              <a:t>Inter-wave contradictions, opinion velocity, panel fatigue over repeated waves.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882B94-066B-45FB-9894-1C9B9B5D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2152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7140D4-B7DC-4D82-9BDA-399F4781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671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D2430"/>
                </a:solidFill>
                <a:latin typeface="DM Sans"/>
                <a:ea typeface="DM Sans"/>
                <a:cs typeface="DM Sans"/>
              </a:defRPr>
            </a:pPr>
            <a:r>
              <a:rPr sz="1065" b="1">
                <a:solidFill>
                  <a:srgbClr val="1D2430"/>
                </a:solidFill>
                <a:latin typeface="DM Sans"/>
                <a:ea typeface="DM Sans"/>
                <a:cs typeface="DM Sans"/>
              </a:rPr>
              <a:t>Demographic Plausibility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57D069-B89B-427F-9223-BAF21098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05275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66273"/>
                </a:solidFill>
                <a:latin typeface="DM Sans"/>
                <a:ea typeface="DM Sans"/>
                <a:cs typeface="DM Sans"/>
              </a:defRPr>
            </a:pPr>
            <a:r>
              <a:rPr sz="705" b="0">
                <a:solidFill>
                  <a:srgbClr val="566273"/>
                </a:solidFill>
                <a:latin typeface="DM Sans"/>
                <a:ea typeface="DM Sans"/>
                <a:cs typeface="DM Sans"/>
              </a:rPr>
              <a:t>Profile vs behavior checks, quota-gaming history, device/context anomalies.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B678D4-E75A-47D9-82B6-F2F2FE2E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33800"/>
            <a:ext cx="2152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EA81A8-CB36-4328-B118-488D9E04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671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D2430"/>
                </a:solidFill>
                <a:latin typeface="DM Sans"/>
                <a:ea typeface="DM Sans"/>
                <a:cs typeface="DM Sans"/>
              </a:defRPr>
            </a:pPr>
            <a:r>
              <a:rPr sz="1065" b="1">
                <a:solidFill>
                  <a:srgbClr val="1D2430"/>
                </a:solidFill>
                <a:latin typeface="DM Sans"/>
                <a:ea typeface="DM Sans"/>
                <a:cs typeface="DM Sans"/>
              </a:rPr>
              <a:t>Verbatim Integrity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64A2492-EC91-469D-9D74-9AF8F8EF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05275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66273"/>
                </a:solidFill>
                <a:latin typeface="DM Sans"/>
                <a:ea typeface="DM Sans"/>
                <a:cs typeface="DM Sans"/>
              </a:defRPr>
            </a:pPr>
            <a:r>
              <a:rPr sz="705" b="0">
                <a:solidFill>
                  <a:srgbClr val="566273"/>
                </a:solidFill>
                <a:latin typeface="DM Sans"/>
                <a:ea typeface="DM Sans"/>
                <a:cs typeface="DM Sans"/>
              </a:rPr>
              <a:t>Near-duplicate clusters, AI-like text, cross-survey response recycling.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CB16879-08EA-4F23-BB91-D4515908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38650"/>
            <a:ext cx="476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0764D67-619C-4A6A-B230-DA080131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72000"/>
            <a:ext cx="441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D2430"/>
                </a:solidFill>
                <a:latin typeface="DM Sans"/>
                <a:ea typeface="DM Sans"/>
                <a:cs typeface="DM Sans"/>
              </a:defRPr>
            </a:pPr>
            <a:r>
              <a:rPr sz="1065" b="1">
                <a:solidFill>
                  <a:srgbClr val="1D2430"/>
                </a:solidFill>
                <a:latin typeface="DM Sans"/>
                <a:ea typeface="DM Sans"/>
                <a:cs typeface="DM Sans"/>
              </a:rPr>
              <a:t>Real-Time Calibration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B344FE2-DD5B-4600-97C6-75D1CDE5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10125"/>
            <a:ext cx="4419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66273"/>
                </a:solidFill>
                <a:latin typeface="DM Sans"/>
                <a:ea typeface="DM Sans"/>
                <a:cs typeface="DM Sans"/>
              </a:defRPr>
            </a:pPr>
            <a:r>
              <a:rPr sz="705" b="0">
                <a:solidFill>
                  <a:srgbClr val="566273"/>
                </a:solidFill>
                <a:latin typeface="DM Sans"/>
                <a:ea typeface="DM Sans"/>
                <a:cs typeface="DM Sans"/>
              </a:rPr>
              <a:t>Rushing nudges, confusion clarification, dynamic trimming before quality decays.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CB29CF-2EEB-45ED-9B1C-1B607EE2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90925"/>
            <a:ext cx="409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68"/>
          </a:solidFill>
          <a:ln xmlns:a="http://schemas.openxmlformats.org/drawingml/2006/main" w="0">
            <a:solidFill>
              <a:srgbClr val="1E6F6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820A604-033A-4A24-86A2-54BCE2E5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43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68"/>
          </a:solidFill>
          <a:ln xmlns:a="http://schemas.openxmlformats.org/drawingml/2006/main" w="0">
            <a:solidFill>
              <a:srgbClr val="1E6F6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C02FE9B-FAAB-41C4-94CB-4D894E97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2743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C"/>
          </a:solidFill>
          <a:ln xmlns:a="http://schemas.openxmlformats.org/drawingml/2006/main" w="9525">
            <a:solidFill>
              <a:srgbClr val="17202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952EDE3-6378-472B-8452-2FC44955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527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76D0C4"/>
                </a:solidFill>
                <a:latin typeface="IBM Plex Mono"/>
                <a:ea typeface="IBM Plex Mono"/>
                <a:cs typeface="IBM Plex Mono"/>
              </a:defRPr>
            </a:pPr>
            <a:r>
              <a:rPr sz="788" b="1">
                <a:solidFill>
                  <a:srgbClr val="76D0C4"/>
                </a:solidFill>
                <a:latin typeface="IBM Plex Mono"/>
                <a:ea typeface="IBM Plex Mono"/>
                <a:cs typeface="IBM Plex Mono"/>
              </a:rPr>
              <a:t>DECISIONING LAYER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1800503-B0DD-4412-B2D6-D4B5D0CF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ource Serif 4"/>
                <a:ea typeface="Source Serif 4"/>
                <a:cs typeface="Source Serif 4"/>
              </a:defRPr>
            </a:pPr>
            <a:r>
              <a:rPr sz="1650" b="1">
                <a:solidFill>
                  <a:srgbClr val="FFFFFF"/>
                </a:solidFill>
                <a:latin typeface="Source Serif 4"/>
                <a:ea typeface="Source Serif 4"/>
                <a:cs typeface="Source Serif 4"/>
              </a:rPr>
              <a:t>Risk fusion + action routing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83CEDB3-C2AB-4D7E-B594-CFC40AA0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623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7DEE8"/>
                </a:solidFill>
                <a:latin typeface="DM Sans"/>
                <a:ea typeface="DM Sans"/>
                <a:cs typeface="DM Sans"/>
              </a:defRPr>
            </a:pPr>
            <a:r>
              <a:rPr sz="938" b="0">
                <a:solidFill>
                  <a:srgbClr val="D7DEE8"/>
                </a:solidFill>
                <a:latin typeface="DM Sans"/>
                <a:ea typeface="DM Sans"/>
                <a:cs typeface="DM Sans"/>
              </a:rPr>
              <a:t>Combine agent scores with calibrated thresholds by study, client sensitivity, and PM override history.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7791641-3FFE-438F-8580-A387A8B8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29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D0C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F1418EE-FF53-4FD9-A163-CCC83E28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910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863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Auto-keep: low-risk completes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41F532F-D388-456A-9124-9D1555EC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05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F2BB714-4F9E-45B6-8B6D-F9E4155E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958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863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Review: ambiguous/high-value cases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4FCD324-C180-49BE-B0F8-885164E2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38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060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40D4AA7-AFCD-443C-A396-12AA1639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006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863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Exclude: high-confidence fraud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5FD3CD1-A19C-402B-AC1F-C39E4570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81650"/>
            <a:ext cx="5029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EE40F39-CF39-4422-9B7C-516DFE9B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6262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E6F68"/>
                </a:solidFill>
                <a:latin typeface="IBM Plex Mono"/>
                <a:ea typeface="IBM Plex Mono"/>
                <a:cs typeface="IBM Plex Mono"/>
              </a:defRPr>
            </a:pPr>
            <a:r>
              <a:rPr sz="788" b="1">
                <a:solidFill>
                  <a:srgbClr val="1E6F68"/>
                </a:solidFill>
                <a:latin typeface="IBM Plex Mono"/>
                <a:ea typeface="IBM Plex Mono"/>
                <a:cs typeface="IBM Plex Mono"/>
              </a:rPr>
              <a:t>EVIDENCE CONTRACT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B9C21C3-3DFB-4DD9-80E8-93C810AB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81700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66273"/>
                </a:solidFill>
                <a:latin typeface="DM Sans"/>
                <a:ea typeface="DM Sans"/>
                <a:cs typeface="DM Sans"/>
              </a:defRPr>
            </a:pPr>
            <a:r>
              <a:rPr sz="863" b="0">
                <a:solidFill>
                  <a:srgbClr val="566273"/>
                </a:solidFill>
                <a:latin typeface="DM Sans"/>
                <a:ea typeface="DM Sans"/>
                <a:cs typeface="DM Sans"/>
              </a:rPr>
              <a:t>For every surfaced respondent: rule/model version, triggering answers, similarity cluster, longitudinal contradiction, confidence band, recommended action.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DD1EEB7-30A8-4913-8CDC-068EB242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353050"/>
            <a:ext cx="19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B33"/>
          </a:solidFill>
          <a:ln xmlns:a="http://schemas.openxmlformats.org/drawingml/2006/main" w="0">
            <a:solidFill>
              <a:srgbClr val="B96B3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4F933A0-7AE8-444B-913E-39425EB7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467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B33"/>
          </a:solidFill>
          <a:ln xmlns:a="http://schemas.openxmlformats.org/drawingml/2006/main" w="0">
            <a:solidFill>
              <a:srgbClr val="B96B3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8DB81F1-5FF0-46BF-8373-5354CDCE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943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B56FB25-781A-42DC-8FEB-8BA1DE1D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430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1D2430"/>
                </a:solidFill>
                <a:latin typeface="DM Sans"/>
                <a:ea typeface="DM Sans"/>
                <a:cs typeface="DM Sans"/>
              </a:rPr>
              <a:t>Calibration loop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DD58B11-883B-4E5A-8F04-7F79D20F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5790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66273"/>
                </a:solidFill>
                <a:latin typeface="DM Sans"/>
                <a:ea typeface="DM Sans"/>
                <a:cs typeface="DM Sans"/>
              </a:defRPr>
            </a:pPr>
            <a:r>
              <a:rPr sz="750" b="0">
                <a:solidFill>
                  <a:srgbClr val="566273"/>
                </a:solidFill>
                <a:latin typeface="DM Sans"/>
                <a:ea typeface="DM Sans"/>
                <a:cs typeface="DM Sans"/>
              </a:rPr>
              <a:t>PM overrides tune thresholds and rubrics.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6D8F28B-99CC-43DF-B65D-C316DAFB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905500"/>
            <a:ext cx="581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B33"/>
          </a:solidFill>
          <a:ln xmlns:a="http://schemas.openxmlformats.org/drawingml/2006/main" w="0">
            <a:solidFill>
              <a:srgbClr val="B96B3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2569A80-FBDA-4619-9FE4-D195B781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857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B33"/>
          </a:solidFill>
          <a:ln xmlns:a="http://schemas.openxmlformats.org/drawingml/2006/main" w="0">
            <a:solidFill>
              <a:srgbClr val="B96B3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AC532E8-53F0-4789-96F0-A8123CF2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1970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CB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91A3453-6348-4815-A0D0-343A41BB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102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E6F68"/>
                </a:solidFill>
                <a:latin typeface="IBM Plex Mono"/>
                <a:ea typeface="IBM Plex Mono"/>
                <a:cs typeface="IBM Plex Mono"/>
              </a:defRPr>
            </a:pPr>
            <a:r>
              <a:rPr sz="788" b="1">
                <a:solidFill>
                  <a:srgbClr val="1E6F68"/>
                </a:solidFill>
                <a:latin typeface="IBM Plex Mono"/>
                <a:ea typeface="IBM Plex Mono"/>
                <a:cs typeface="IBM Plex Mono"/>
              </a:rPr>
              <a:t>FARNSWORTH BUSINESS OUTCOME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282879F-C4CE-440B-AF02-CBE213F4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7690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6F68"/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1">
                <a:solidFill>
                  <a:srgbClr val="1E6F68"/>
                </a:solidFill>
                <a:latin typeface="Source Serif 4"/>
                <a:ea typeface="Source Serif 4"/>
                <a:cs typeface="Source Serif 4"/>
              </a:rPr>
              <a:t>10-20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EE4F539-A9C5-43B6-9F83-78EA4DAC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038850"/>
            <a:ext cx="971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66273"/>
                </a:solidFill>
                <a:latin typeface="IBM Plex Mono"/>
                <a:ea typeface="IBM Plex Mono"/>
                <a:cs typeface="IBM Plex Mono"/>
              </a:defRPr>
            </a:pPr>
            <a:r>
              <a:rPr sz="788" b="0">
                <a:solidFill>
                  <a:srgbClr val="566273"/>
                </a:solidFill>
                <a:latin typeface="IBM Plex Mono"/>
                <a:ea typeface="IBM Plex Mono"/>
                <a:cs typeface="IBM Plex Mono"/>
              </a:rPr>
              <a:t>PM review target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425FF76-FBB9-42DD-AAF0-66EC5FEA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67690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6F68"/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1">
                <a:solidFill>
                  <a:srgbClr val="1E6F68"/>
                </a:solidFill>
                <a:latin typeface="Source Serif 4"/>
                <a:ea typeface="Source Serif 4"/>
                <a:cs typeface="Source Serif 4"/>
              </a:rPr>
              <a:t>100%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2F59A81-8D7E-4969-9A27-F8127779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38850"/>
            <a:ext cx="971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66273"/>
                </a:solidFill>
                <a:latin typeface="IBM Plex Mono"/>
                <a:ea typeface="IBM Plex Mono"/>
                <a:cs typeface="IBM Plex Mono"/>
              </a:defRPr>
            </a:pPr>
            <a:r>
              <a:rPr sz="788" b="0">
                <a:solidFill>
                  <a:srgbClr val="566273"/>
                </a:solidFill>
                <a:latin typeface="IBM Plex Mono"/>
                <a:ea typeface="IBM Plex Mono"/>
                <a:cs typeface="IBM Plex Mono"/>
              </a:rPr>
              <a:t>screened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7739D1F-16FE-44D2-85CE-61084C8E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953000"/>
            <a:ext cx="19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68"/>
          </a:solidFill>
          <a:ln xmlns:a="http://schemas.openxmlformats.org/drawingml/2006/main" w="0">
            <a:solidFill>
              <a:srgbClr val="1E6F6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EAE5F5D-5034-40C9-840C-916DC450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105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68"/>
          </a:solidFill>
          <a:ln xmlns:a="http://schemas.openxmlformats.org/drawingml/2006/main" w="0">
            <a:solidFill>
              <a:srgbClr val="1E6F6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16F8BA4-232D-4191-8E29-7A2372A9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1" y="6496050"/>
            <a:ext cx="1067104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825" b="0">
                <a:solidFill>
                  <a:srgbClr val="566273"/>
                </a:solidFill>
                <a:latin typeface="IBM Plex Mono"/>
                <a:ea typeface="IBM Plex Mono"/>
                <a:cs typeface="IBM Plex Mono"/>
              </a:defRPr>
            </a:pPr>
            <a:r>
              <a:rPr sz="780" b="0">
                <a:solidFill>
                  <a:srgbClr val="535353"/>
                </a:solidFill>
                <a:latin typeface="Helvetica Neue"/>
              </a:rPr>
              <a:t>Business alignment: agents should not simply flag more people; they should reduce missed bad respondents, explain why each exception matters, and keep legitimate respondents from being wrongly removed.</a:t>
            </a:r>
          </a:p>
        </p:txBody>
      </p:sp>
    </p:spTree>
    <p:extLst>
      <p:ext uri="{BB962C8B-B14F-4D97-AF65-F5344CB8AC3E}">
        <p14:creationId xmlns:p14="http://schemas.microsoft.com/office/powerpoint/2010/main" val="2023619965"/>
      </p:ext>
    </p:extLst>
  </p:cSld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Farnsworth technical overview background 01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F7F5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Farnsworth technical overview background 02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Farnsworth technical overview background 03"/>
          <p:cNvSpPr>
            <a:spLocks noGrp="1"/>
          </p:cNvSpPr>
          <p:nvPr/>
        </p:nvSpPr>
        <p:spPr>
          <a:xfrm>
            <a:off x="76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Farnsworth technical overview background 04"/>
          <p:cNvSpPr>
            <a:spLocks noGrp="1"/>
          </p:cNvSpPr>
          <p:nvPr/>
        </p:nvSpPr>
        <p:spPr>
          <a:xfrm>
            <a:off x="152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Farnsworth technical overview background 05"/>
          <p:cNvSpPr>
            <a:spLocks noGrp="1"/>
          </p:cNvSpPr>
          <p:nvPr/>
        </p:nvSpPr>
        <p:spPr>
          <a:xfrm>
            <a:off x="228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Farnsworth technical overview background 06"/>
          <p:cNvSpPr>
            <a:spLocks noGrp="1"/>
          </p:cNvSpPr>
          <p:nvPr/>
        </p:nvSpPr>
        <p:spPr>
          <a:xfrm>
            <a:off x="304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Farnsworth technical overview background 07"/>
          <p:cNvSpPr>
            <a:spLocks noGrp="1"/>
          </p:cNvSpPr>
          <p:nvPr/>
        </p:nvSpPr>
        <p:spPr>
          <a:xfrm>
            <a:off x="381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Farnsworth technical overview background 08"/>
          <p:cNvSpPr>
            <a:spLocks noGrp="1"/>
          </p:cNvSpPr>
          <p:nvPr/>
        </p:nvSpPr>
        <p:spPr>
          <a:xfrm>
            <a:off x="457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Farnsworth technical overview background 09"/>
          <p:cNvSpPr>
            <a:spLocks noGrp="1"/>
          </p:cNvSpPr>
          <p:nvPr/>
        </p:nvSpPr>
        <p:spPr>
          <a:xfrm>
            <a:off x="533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Farnsworth technical overview background 10"/>
          <p:cNvSpPr>
            <a:spLocks noGrp="1"/>
          </p:cNvSpPr>
          <p:nvPr/>
        </p:nvSpPr>
        <p:spPr>
          <a:xfrm>
            <a:off x="609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Farnsworth technical overview background 11"/>
          <p:cNvSpPr>
            <a:spLocks noGrp="1"/>
          </p:cNvSpPr>
          <p:nvPr/>
        </p:nvSpPr>
        <p:spPr>
          <a:xfrm>
            <a:off x="685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Farnsworth technical overview background 12"/>
          <p:cNvSpPr>
            <a:spLocks noGrp="1"/>
          </p:cNvSpPr>
          <p:nvPr/>
        </p:nvSpPr>
        <p:spPr>
          <a:xfrm>
            <a:off x="762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Farnsworth technical overview background 13"/>
          <p:cNvSpPr>
            <a:spLocks noGrp="1"/>
          </p:cNvSpPr>
          <p:nvPr/>
        </p:nvSpPr>
        <p:spPr>
          <a:xfrm>
            <a:off x="838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Farnsworth technical overview background 14"/>
          <p:cNvSpPr>
            <a:spLocks noGrp="1"/>
          </p:cNvSpPr>
          <p:nvPr/>
        </p:nvSpPr>
        <p:spPr>
          <a:xfrm>
            <a:off x="914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Farnsworth technical overview background 15"/>
          <p:cNvSpPr>
            <a:spLocks noGrp="1"/>
          </p:cNvSpPr>
          <p:nvPr/>
        </p:nvSpPr>
        <p:spPr>
          <a:xfrm>
            <a:off x="990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Farnsworth technical overview background 16"/>
          <p:cNvSpPr>
            <a:spLocks noGrp="1"/>
          </p:cNvSpPr>
          <p:nvPr/>
        </p:nvSpPr>
        <p:spPr>
          <a:xfrm>
            <a:off x="1066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Farnsworth technical overview background 17"/>
          <p:cNvSpPr>
            <a:spLocks noGrp="1"/>
          </p:cNvSpPr>
          <p:nvPr/>
        </p:nvSpPr>
        <p:spPr>
          <a:xfrm>
            <a:off x="1143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Farnsworth technical overview background 18"/>
          <p:cNvSpPr>
            <a:spLocks noGrp="1"/>
          </p:cNvSpPr>
          <p:nvPr/>
        </p:nvSpPr>
        <p:spPr>
          <a:xfrm>
            <a:off x="1219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Farnsworth technical overview background 19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Farnsworth technical overview background 20"/>
          <p:cNvSpPr>
            <a:spLocks noGrp="1"/>
          </p:cNvSpPr>
          <p:nvPr/>
        </p:nvSpPr>
        <p:spPr>
          <a:xfrm>
            <a:off x="0" y="76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Farnsworth technical overview background 21"/>
          <p:cNvSpPr>
            <a:spLocks noGrp="1"/>
          </p:cNvSpPr>
          <p:nvPr/>
        </p:nvSpPr>
        <p:spPr>
          <a:xfrm>
            <a:off x="0" y="152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Farnsworth technical overview background 22"/>
          <p:cNvSpPr>
            <a:spLocks noGrp="1"/>
          </p:cNvSpPr>
          <p:nvPr/>
        </p:nvSpPr>
        <p:spPr>
          <a:xfrm>
            <a:off x="0" y="228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Farnsworth technical overview background 23"/>
          <p:cNvSpPr>
            <a:spLocks noGrp="1"/>
          </p:cNvSpPr>
          <p:nvPr/>
        </p:nvSpPr>
        <p:spPr>
          <a:xfrm>
            <a:off x="0" y="304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Farnsworth technical overview background 24"/>
          <p:cNvSpPr>
            <a:spLocks noGrp="1"/>
          </p:cNvSpPr>
          <p:nvPr/>
        </p:nvSpPr>
        <p:spPr>
          <a:xfrm>
            <a:off x="0" y="3810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Farnsworth technical overview background 25"/>
          <p:cNvSpPr>
            <a:spLocks noGrp="1"/>
          </p:cNvSpPr>
          <p:nvPr/>
        </p:nvSpPr>
        <p:spPr>
          <a:xfrm>
            <a:off x="0" y="457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Farnsworth technical overview background 26"/>
          <p:cNvSpPr>
            <a:spLocks noGrp="1"/>
          </p:cNvSpPr>
          <p:nvPr/>
        </p:nvSpPr>
        <p:spPr>
          <a:xfrm>
            <a:off x="0" y="533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Farnsworth technical overview background 27"/>
          <p:cNvSpPr>
            <a:spLocks noGrp="1"/>
          </p:cNvSpPr>
          <p:nvPr/>
        </p:nvSpPr>
        <p:spPr>
          <a:xfrm>
            <a:off x="0" y="609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Farnsworth technical overview background 28"/>
          <p:cNvSpPr>
            <a:spLocks noGrp="1"/>
          </p:cNvSpPr>
          <p:nvPr/>
        </p:nvSpPr>
        <p:spPr>
          <a:xfrm>
            <a:off x="0" y="685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229" name="Google Shape;229;p7"/>
          <p:cNvCxnSpPr/>
          <p:nvPr/>
        </p:nvCxnSpPr>
        <p:spPr>
          <a:xfrm flipH="1">
            <a:off x="1354633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7"/>
          <p:cNvCxnSpPr/>
          <p:nvPr/>
        </p:nvCxnSpPr>
        <p:spPr>
          <a:xfrm flipH="1">
            <a:off x="2709265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7"/>
          <p:cNvCxnSpPr/>
          <p:nvPr/>
        </p:nvCxnSpPr>
        <p:spPr>
          <a:xfrm flipH="1">
            <a:off x="4063898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7"/>
          <p:cNvCxnSpPr/>
          <p:nvPr/>
        </p:nvCxnSpPr>
        <p:spPr>
          <a:xfrm flipH="1">
            <a:off x="5418530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7"/>
          <p:cNvCxnSpPr/>
          <p:nvPr/>
        </p:nvCxnSpPr>
        <p:spPr>
          <a:xfrm flipH="1">
            <a:off x="6773164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7"/>
          <p:cNvCxnSpPr/>
          <p:nvPr/>
        </p:nvCxnSpPr>
        <p:spPr>
          <a:xfrm flipH="1">
            <a:off x="8127796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7"/>
          <p:cNvCxnSpPr/>
          <p:nvPr/>
        </p:nvCxnSpPr>
        <p:spPr>
          <a:xfrm flipH="1">
            <a:off x="9482429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7"/>
          <p:cNvCxnSpPr/>
          <p:nvPr/>
        </p:nvCxnSpPr>
        <p:spPr>
          <a:xfrm flipH="1">
            <a:off x="10837061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7"/>
          <p:cNvCxnSpPr/>
          <p:nvPr/>
        </p:nvCxnSpPr>
        <p:spPr>
          <a:xfrm>
            <a:off x="-1" y="13716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7"/>
          <p:cNvCxnSpPr/>
          <p:nvPr/>
        </p:nvCxnSpPr>
        <p:spPr>
          <a:xfrm>
            <a:off x="-1" y="27432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7"/>
          <p:cNvCxnSpPr/>
          <p:nvPr/>
        </p:nvCxnSpPr>
        <p:spPr>
          <a:xfrm>
            <a:off x="-1" y="41148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7"/>
          <p:cNvCxnSpPr/>
          <p:nvPr/>
        </p:nvCxnSpPr>
        <p:spPr>
          <a:xfrm>
            <a:off x="-1" y="54864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7"/>
          <p:cNvSpPr txBox="1"/>
          <p:nvPr/>
        </p:nvSpPr>
        <p:spPr>
          <a:xfrm>
            <a:off x="758951" y="366147"/>
            <a:ext cx="7315201" cy="13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WE’D HELP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5943600" y="366090"/>
            <a:ext cx="54864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Helvetica Neue"/>
              <a:buNone/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× FARNSWORTH / 09</a:t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758952" y="932688"/>
            <a:ext cx="10671048" cy="83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700"/>
              <a:buFont typeface="Helvetica Neue"/>
              <a:buNone/>
            </a:pPr>
            <a:r>
              <a:rPr b="1" i="0" lang="en-US" sz="27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workflow we build and run for you — Decipher in, review-ready outputs back.</a:t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758951" y="2743199"/>
            <a:ext cx="1408634" cy="4572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758951" y="2970594"/>
            <a:ext cx="1565150" cy="148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758951" y="3265577"/>
            <a:ext cx="1565150" cy="2354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Helvetica Neue"/>
              <a:buNone/>
            </a:pPr>
            <a:r>
              <a:rPr b="1" i="0" lang="en-US" sz="16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Ingest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758951" y="3657599"/>
            <a:ext cx="1565150" cy="848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 export + datamap; detect interim vs. closeout → so the right workflow runs with no PM setup.</a:t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2580132" y="2743199"/>
            <a:ext cx="1408634" cy="4572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2580132" y="2970594"/>
            <a:ext cx="1565149" cy="148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/>
          </a:p>
        </p:txBody>
      </p:sp>
      <p:sp>
        <p:nvSpPr>
          <p:cNvPr id="250" name="Google Shape;250;p7"/>
          <p:cNvSpPr txBox="1"/>
          <p:nvPr/>
        </p:nvSpPr>
        <p:spPr>
          <a:xfrm>
            <a:off x="2580132" y="3265577"/>
            <a:ext cx="1565149" cy="2354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Helvetica Neue"/>
              <a:buNone/>
            </a:pPr>
            <a:r>
              <a:rPr b="1" i="0" lang="en-US" sz="16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</a:t>
            </a:r>
            <a:endParaRPr/>
          </a:p>
        </p:txBody>
      </p:sp>
      <p:sp>
        <p:nvSpPr>
          <p:cNvPr id="251" name="Google Shape;251;p7"/>
          <p:cNvSpPr txBox="1"/>
          <p:nvPr/>
        </p:nvSpPr>
        <p:spPr>
          <a:xfrm>
            <a:off x="2580132" y="3657599"/>
            <a:ext cx="1565149" cy="678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Rules + open-end AI review every respondent → so quality is checked, not sampled.</a:t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4401311" y="2743199"/>
            <a:ext cx="1408634" cy="4572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4401311" y="2970594"/>
            <a:ext cx="1565150" cy="148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/>
          </a:p>
        </p:txBody>
      </p:sp>
      <p:sp>
        <p:nvSpPr>
          <p:cNvPr id="254" name="Google Shape;254;p7"/>
          <p:cNvSpPr txBox="1"/>
          <p:nvPr/>
        </p:nvSpPr>
        <p:spPr>
          <a:xfrm>
            <a:off x="4401311" y="3265577"/>
            <a:ext cx="1565150" cy="2354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Helvetica Neue"/>
              <a:buNone/>
            </a:pPr>
            <a:r>
              <a:rPr b="1" i="0" lang="en-US" sz="16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Recommend</a:t>
            </a:r>
            <a:endParaRPr/>
          </a:p>
        </p:txBody>
      </p:sp>
      <p:sp>
        <p:nvSpPr>
          <p:cNvPr id="255" name="Google Shape;255;p7"/>
          <p:cNvSpPr txBox="1"/>
          <p:nvPr/>
        </p:nvSpPr>
        <p:spPr>
          <a:xfrm>
            <a:off x="4401311" y="3657599"/>
            <a:ext cx="1565150" cy="678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Reason + confidence + evidence for each call → so every decision is defensible.</a:t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6222491" y="2743199"/>
            <a:ext cx="1408634" cy="4572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 txBox="1"/>
          <p:nvPr/>
        </p:nvSpPr>
        <p:spPr>
          <a:xfrm>
            <a:off x="6222491" y="2970594"/>
            <a:ext cx="1565149" cy="148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6222491" y="3265577"/>
            <a:ext cx="1565149" cy="2354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Helvetica Neue"/>
              <a:buNone/>
            </a:pPr>
            <a:r>
              <a:rPr b="1" i="0" lang="en-US" sz="16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Route</a:t>
            </a:r>
            <a:endParaRPr/>
          </a:p>
        </p:txBody>
      </p:sp>
      <p:sp>
        <p:nvSpPr>
          <p:cNvPr id="259" name="Google Shape;259;p7"/>
          <p:cNvSpPr txBox="1"/>
          <p:nvPr/>
        </p:nvSpPr>
        <p:spPr>
          <a:xfrm>
            <a:off x="6222491" y="3657599"/>
            <a:ext cx="1565149" cy="507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Route only exceptions to PMs → so they review a handful of cases, not the whole file.</a:t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8043671" y="2743199"/>
            <a:ext cx="1408634" cy="4572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 txBox="1"/>
          <p:nvPr/>
        </p:nvSpPr>
        <p:spPr>
          <a:xfrm>
            <a:off x="8043671" y="2970594"/>
            <a:ext cx="1565149" cy="148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05</a:t>
            </a:r>
            <a:endParaRPr/>
          </a:p>
        </p:txBody>
      </p:sp>
      <p:sp>
        <p:nvSpPr>
          <p:cNvPr id="262" name="Google Shape;262;p7"/>
          <p:cNvSpPr txBox="1"/>
          <p:nvPr/>
        </p:nvSpPr>
        <p:spPr>
          <a:xfrm>
            <a:off x="8043671" y="3265577"/>
            <a:ext cx="1565149" cy="2354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Helvetica Neue"/>
              <a:buNone/>
            </a:pPr>
            <a:r>
              <a:rPr b="1" i="0" lang="en-US" sz="16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Export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8043671" y="3657599"/>
            <a:ext cx="1565149" cy="678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Clean data + exclusion log + audit report → so closeout is sign-off, not rework.</a:t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9864852" y="2743199"/>
            <a:ext cx="1408634" cy="4572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9864852" y="2970594"/>
            <a:ext cx="1565149" cy="148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06</a:t>
            </a:r>
            <a:endParaRPr/>
          </a:p>
        </p:txBody>
      </p:sp>
      <p:sp>
        <p:nvSpPr>
          <p:cNvPr id="266" name="Google Shape;266;p7"/>
          <p:cNvSpPr txBox="1"/>
          <p:nvPr/>
        </p:nvSpPr>
        <p:spPr>
          <a:xfrm>
            <a:off x="9864852" y="3265577"/>
            <a:ext cx="1565149" cy="2354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Helvetica Neue"/>
              <a:buNone/>
            </a:pPr>
            <a:r>
              <a:rPr b="1" i="0" lang="en-US" sz="16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</a:t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9864852" y="3657599"/>
            <a:ext cx="1565149" cy="678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PM overrides tune thresholds → so each run gets sharper and cheaper.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758951" y="5440679"/>
            <a:ext cx="1371601" cy="136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PRINCIPLE</a:t>
            </a:r>
            <a:endParaRPr/>
          </a:p>
        </p:txBody>
      </p:sp>
      <p:sp>
        <p:nvSpPr>
          <p:cNvPr id="269" name="Google Shape;269;p7"/>
          <p:cNvSpPr txBox="1"/>
          <p:nvPr/>
        </p:nvSpPr>
        <p:spPr>
          <a:xfrm>
            <a:off x="2221991" y="5413247"/>
            <a:ext cx="9208010" cy="368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Light for Farnsworth to adopt because the infrastructure runs on our side: you send a Decipher export; we return a review-ready package.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Farnsworth technical overview background 01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F7F5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Farnsworth technical overview background 02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Farnsworth technical overview background 03"/>
          <p:cNvSpPr>
            <a:spLocks noGrp="1"/>
          </p:cNvSpPr>
          <p:nvPr/>
        </p:nvSpPr>
        <p:spPr>
          <a:xfrm>
            <a:off x="76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Farnsworth technical overview background 04"/>
          <p:cNvSpPr>
            <a:spLocks noGrp="1"/>
          </p:cNvSpPr>
          <p:nvPr/>
        </p:nvSpPr>
        <p:spPr>
          <a:xfrm>
            <a:off x="152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Farnsworth technical overview background 05"/>
          <p:cNvSpPr>
            <a:spLocks noGrp="1"/>
          </p:cNvSpPr>
          <p:nvPr/>
        </p:nvSpPr>
        <p:spPr>
          <a:xfrm>
            <a:off x="228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Farnsworth technical overview background 06"/>
          <p:cNvSpPr>
            <a:spLocks noGrp="1"/>
          </p:cNvSpPr>
          <p:nvPr/>
        </p:nvSpPr>
        <p:spPr>
          <a:xfrm>
            <a:off x="304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Farnsworth technical overview background 07"/>
          <p:cNvSpPr>
            <a:spLocks noGrp="1"/>
          </p:cNvSpPr>
          <p:nvPr/>
        </p:nvSpPr>
        <p:spPr>
          <a:xfrm>
            <a:off x="381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Farnsworth technical overview background 08"/>
          <p:cNvSpPr>
            <a:spLocks noGrp="1"/>
          </p:cNvSpPr>
          <p:nvPr/>
        </p:nvSpPr>
        <p:spPr>
          <a:xfrm>
            <a:off x="457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Farnsworth technical overview background 09"/>
          <p:cNvSpPr>
            <a:spLocks noGrp="1"/>
          </p:cNvSpPr>
          <p:nvPr/>
        </p:nvSpPr>
        <p:spPr>
          <a:xfrm>
            <a:off x="533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Farnsworth technical overview background 10"/>
          <p:cNvSpPr>
            <a:spLocks noGrp="1"/>
          </p:cNvSpPr>
          <p:nvPr/>
        </p:nvSpPr>
        <p:spPr>
          <a:xfrm>
            <a:off x="609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Farnsworth technical overview background 11"/>
          <p:cNvSpPr>
            <a:spLocks noGrp="1"/>
          </p:cNvSpPr>
          <p:nvPr/>
        </p:nvSpPr>
        <p:spPr>
          <a:xfrm>
            <a:off x="685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Farnsworth technical overview background 12"/>
          <p:cNvSpPr>
            <a:spLocks noGrp="1"/>
          </p:cNvSpPr>
          <p:nvPr/>
        </p:nvSpPr>
        <p:spPr>
          <a:xfrm>
            <a:off x="762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Farnsworth technical overview background 13"/>
          <p:cNvSpPr>
            <a:spLocks noGrp="1"/>
          </p:cNvSpPr>
          <p:nvPr/>
        </p:nvSpPr>
        <p:spPr>
          <a:xfrm>
            <a:off x="838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Farnsworth technical overview background 14"/>
          <p:cNvSpPr>
            <a:spLocks noGrp="1"/>
          </p:cNvSpPr>
          <p:nvPr/>
        </p:nvSpPr>
        <p:spPr>
          <a:xfrm>
            <a:off x="914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Farnsworth technical overview background 15"/>
          <p:cNvSpPr>
            <a:spLocks noGrp="1"/>
          </p:cNvSpPr>
          <p:nvPr/>
        </p:nvSpPr>
        <p:spPr>
          <a:xfrm>
            <a:off x="990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Farnsworth technical overview background 16"/>
          <p:cNvSpPr>
            <a:spLocks noGrp="1"/>
          </p:cNvSpPr>
          <p:nvPr/>
        </p:nvSpPr>
        <p:spPr>
          <a:xfrm>
            <a:off x="1066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Farnsworth technical overview background 17"/>
          <p:cNvSpPr>
            <a:spLocks noGrp="1"/>
          </p:cNvSpPr>
          <p:nvPr/>
        </p:nvSpPr>
        <p:spPr>
          <a:xfrm>
            <a:off x="1143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Farnsworth technical overview background 18"/>
          <p:cNvSpPr>
            <a:spLocks noGrp="1"/>
          </p:cNvSpPr>
          <p:nvPr/>
        </p:nvSpPr>
        <p:spPr>
          <a:xfrm>
            <a:off x="1219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Farnsworth technical overview background 19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Farnsworth technical overview background 20"/>
          <p:cNvSpPr>
            <a:spLocks noGrp="1"/>
          </p:cNvSpPr>
          <p:nvPr/>
        </p:nvSpPr>
        <p:spPr>
          <a:xfrm>
            <a:off x="0" y="76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Farnsworth technical overview background 21"/>
          <p:cNvSpPr>
            <a:spLocks noGrp="1"/>
          </p:cNvSpPr>
          <p:nvPr/>
        </p:nvSpPr>
        <p:spPr>
          <a:xfrm>
            <a:off x="0" y="152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Farnsworth technical overview background 22"/>
          <p:cNvSpPr>
            <a:spLocks noGrp="1"/>
          </p:cNvSpPr>
          <p:nvPr/>
        </p:nvSpPr>
        <p:spPr>
          <a:xfrm>
            <a:off x="0" y="228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Farnsworth technical overview background 23"/>
          <p:cNvSpPr>
            <a:spLocks noGrp="1"/>
          </p:cNvSpPr>
          <p:nvPr/>
        </p:nvSpPr>
        <p:spPr>
          <a:xfrm>
            <a:off x="0" y="304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Farnsworth technical overview background 24"/>
          <p:cNvSpPr>
            <a:spLocks noGrp="1"/>
          </p:cNvSpPr>
          <p:nvPr/>
        </p:nvSpPr>
        <p:spPr>
          <a:xfrm>
            <a:off x="0" y="3810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Farnsworth technical overview background 25"/>
          <p:cNvSpPr>
            <a:spLocks noGrp="1"/>
          </p:cNvSpPr>
          <p:nvPr/>
        </p:nvSpPr>
        <p:spPr>
          <a:xfrm>
            <a:off x="0" y="457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Farnsworth technical overview background 26"/>
          <p:cNvSpPr>
            <a:spLocks noGrp="1"/>
          </p:cNvSpPr>
          <p:nvPr/>
        </p:nvSpPr>
        <p:spPr>
          <a:xfrm>
            <a:off x="0" y="533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Farnsworth technical overview background 27"/>
          <p:cNvSpPr>
            <a:spLocks noGrp="1"/>
          </p:cNvSpPr>
          <p:nvPr/>
        </p:nvSpPr>
        <p:spPr>
          <a:xfrm>
            <a:off x="0" y="609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Farnsworth technical overview background 28"/>
          <p:cNvSpPr>
            <a:spLocks noGrp="1"/>
          </p:cNvSpPr>
          <p:nvPr/>
        </p:nvSpPr>
        <p:spPr>
          <a:xfrm>
            <a:off x="0" y="685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274" name="Google Shape;274;p8"/>
          <p:cNvCxnSpPr/>
          <p:nvPr/>
        </p:nvCxnSpPr>
        <p:spPr>
          <a:xfrm flipH="1">
            <a:off x="1354633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8"/>
          <p:cNvCxnSpPr/>
          <p:nvPr/>
        </p:nvCxnSpPr>
        <p:spPr>
          <a:xfrm flipH="1">
            <a:off x="2709265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8"/>
          <p:cNvCxnSpPr/>
          <p:nvPr/>
        </p:nvCxnSpPr>
        <p:spPr>
          <a:xfrm flipH="1">
            <a:off x="4063898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8"/>
          <p:cNvCxnSpPr/>
          <p:nvPr/>
        </p:nvCxnSpPr>
        <p:spPr>
          <a:xfrm flipH="1">
            <a:off x="5418530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8"/>
          <p:cNvCxnSpPr/>
          <p:nvPr/>
        </p:nvCxnSpPr>
        <p:spPr>
          <a:xfrm flipH="1">
            <a:off x="6773164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8"/>
          <p:cNvCxnSpPr/>
          <p:nvPr/>
        </p:nvCxnSpPr>
        <p:spPr>
          <a:xfrm flipH="1">
            <a:off x="8127796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8"/>
          <p:cNvCxnSpPr/>
          <p:nvPr/>
        </p:nvCxnSpPr>
        <p:spPr>
          <a:xfrm flipH="1">
            <a:off x="9482429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8"/>
          <p:cNvCxnSpPr/>
          <p:nvPr/>
        </p:nvCxnSpPr>
        <p:spPr>
          <a:xfrm flipH="1">
            <a:off x="10837061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8"/>
          <p:cNvCxnSpPr/>
          <p:nvPr/>
        </p:nvCxnSpPr>
        <p:spPr>
          <a:xfrm>
            <a:off x="-1" y="13716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8"/>
          <p:cNvCxnSpPr/>
          <p:nvPr/>
        </p:nvCxnSpPr>
        <p:spPr>
          <a:xfrm>
            <a:off x="-1" y="27432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8"/>
          <p:cNvCxnSpPr/>
          <p:nvPr/>
        </p:nvCxnSpPr>
        <p:spPr>
          <a:xfrm>
            <a:off x="-1" y="41148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8"/>
          <p:cNvCxnSpPr/>
          <p:nvPr/>
        </p:nvCxnSpPr>
        <p:spPr>
          <a:xfrm>
            <a:off x="-1" y="54864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8"/>
          <p:cNvSpPr txBox="1"/>
          <p:nvPr/>
        </p:nvSpPr>
        <p:spPr>
          <a:xfrm>
            <a:off x="758951" y="366147"/>
            <a:ext cx="7315201" cy="13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OPPORTUNITY</a:t>
            </a:r>
            <a:endParaRPr/>
          </a:p>
        </p:txBody>
      </p:sp>
      <p:sp>
        <p:nvSpPr>
          <p:cNvPr id="287" name="Google Shape;287;p8"/>
          <p:cNvSpPr txBox="1"/>
          <p:nvPr/>
        </p:nvSpPr>
        <p:spPr>
          <a:xfrm>
            <a:off x="5943600" y="366090"/>
            <a:ext cx="54864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Helvetica Neue"/>
              <a:buNone/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× FARNSWORTH / 10</a:t>
            </a:r>
            <a:endParaRPr/>
          </a:p>
        </p:txBody>
      </p:sp>
      <p:sp>
        <p:nvSpPr>
          <p:cNvPr id="288" name="Google Shape;288;p8"/>
          <p:cNvSpPr txBox="1"/>
          <p:nvPr/>
        </p:nvSpPr>
        <p:spPr>
          <a:xfrm>
            <a:off x="758952" y="932688"/>
            <a:ext cx="10671048" cy="4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Move PMs from full-file review to exception review.</a:t>
            </a:r>
            <a:endParaRPr/>
          </a:p>
        </p:txBody>
      </p:sp>
      <p:sp>
        <p:nvSpPr>
          <p:cNvPr id="289" name="Google Shape;289;p8"/>
          <p:cNvSpPr txBox="1"/>
          <p:nvPr/>
        </p:nvSpPr>
        <p:spPr>
          <a:xfrm>
            <a:off x="758951" y="1874520"/>
            <a:ext cx="10058401" cy="1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Same quality standards — a different operating model. The system carries the breadth; PMs apply judgment only where it matters.</a:t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758951" y="2542032"/>
            <a:ext cx="5074922" cy="306324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1014983" y="2793879"/>
            <a:ext cx="1463042" cy="13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TODAY</a:t>
            </a:r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2313432" y="2787827"/>
            <a:ext cx="3246121" cy="148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Full-file review</a:t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1014983" y="3195827"/>
            <a:ext cx="1078993" cy="31089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4" name="Google Shape;294;p8"/>
          <p:cNvGrpSpPr/>
          <p:nvPr/>
        </p:nvGrpSpPr>
        <p:grpSpPr>
          <a:xfrm>
            <a:off x="1014983" y="3195827"/>
            <a:ext cx="1078994" cy="310898"/>
            <a:chOff x="0" y="0"/>
            <a:chExt cx="1078992" cy="310896"/>
          </a:xfrm>
        </p:grpSpPr>
        <p:sp>
          <p:nvSpPr>
            <p:cNvPr id="295" name="Google Shape;295;p8"/>
            <p:cNvSpPr/>
            <p:nvPr/>
          </p:nvSpPr>
          <p:spPr>
            <a:xfrm>
              <a:off x="0" y="0"/>
              <a:ext cx="1078992" cy="310896"/>
            </a:xfrm>
            <a:prstGeom prst="rect">
              <a:avLst/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8"/>
            <p:cNvSpPr txBox="1"/>
            <p:nvPr/>
          </p:nvSpPr>
          <p:spPr>
            <a:xfrm>
              <a:off x="0" y="91948"/>
              <a:ext cx="1078992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Helvetica Neue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AI</a:t>
              </a:r>
              <a:endParaRPr/>
            </a:p>
          </p:txBody>
        </p:sp>
      </p:grpSp>
      <p:sp>
        <p:nvSpPr>
          <p:cNvPr id="297" name="Google Shape;297;p8"/>
          <p:cNvSpPr txBox="1"/>
          <p:nvPr/>
        </p:nvSpPr>
        <p:spPr>
          <a:xfrm>
            <a:off x="2240279" y="3277031"/>
            <a:ext cx="3337560" cy="148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AI annotates the file semi-manually.</a:t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1014983" y="3589984"/>
            <a:ext cx="4562857" cy="12701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1014983" y="3680459"/>
            <a:ext cx="1078993" cy="31089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8"/>
          <p:cNvGrpSpPr/>
          <p:nvPr/>
        </p:nvGrpSpPr>
        <p:grpSpPr>
          <a:xfrm>
            <a:off x="1014983" y="3680459"/>
            <a:ext cx="1078994" cy="310898"/>
            <a:chOff x="0" y="0"/>
            <a:chExt cx="1078992" cy="310896"/>
          </a:xfrm>
        </p:grpSpPr>
        <p:sp>
          <p:nvSpPr>
            <p:cNvPr id="301" name="Google Shape;301;p8"/>
            <p:cNvSpPr/>
            <p:nvPr/>
          </p:nvSpPr>
          <p:spPr>
            <a:xfrm>
              <a:off x="0" y="0"/>
              <a:ext cx="1078992" cy="310896"/>
            </a:xfrm>
            <a:prstGeom prst="rect">
              <a:avLst/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8"/>
            <p:cNvSpPr txBox="1"/>
            <p:nvPr/>
          </p:nvSpPr>
          <p:spPr>
            <a:xfrm>
              <a:off x="0" y="91948"/>
              <a:ext cx="1078992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Helvetica Neue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PM</a:t>
              </a:r>
              <a:endParaRPr/>
            </a:p>
          </p:txBody>
        </p:sp>
      </p:grpSp>
      <p:sp>
        <p:nvSpPr>
          <p:cNvPr id="303" name="Google Shape;303;p8"/>
          <p:cNvSpPr txBox="1"/>
          <p:nvPr/>
        </p:nvSpPr>
        <p:spPr>
          <a:xfrm>
            <a:off x="2240279" y="3761663"/>
            <a:ext cx="3337560" cy="148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PMs re-read the whole file — all 1,036 rows, ~3,250 open-ends.</a:t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1014983" y="4074616"/>
            <a:ext cx="4562857" cy="12701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1014983" y="4165091"/>
            <a:ext cx="1078993" cy="31089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" name="Google Shape;306;p8"/>
          <p:cNvGrpSpPr/>
          <p:nvPr/>
        </p:nvGrpSpPr>
        <p:grpSpPr>
          <a:xfrm>
            <a:off x="1014983" y="4165091"/>
            <a:ext cx="1078994" cy="310898"/>
            <a:chOff x="0" y="0"/>
            <a:chExt cx="1078992" cy="310896"/>
          </a:xfrm>
        </p:grpSpPr>
        <p:sp>
          <p:nvSpPr>
            <p:cNvPr id="307" name="Google Shape;307;p8"/>
            <p:cNvSpPr/>
            <p:nvPr/>
          </p:nvSpPr>
          <p:spPr>
            <a:xfrm>
              <a:off x="0" y="0"/>
              <a:ext cx="1078992" cy="310896"/>
            </a:xfrm>
            <a:prstGeom prst="rect">
              <a:avLst/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8"/>
            <p:cNvSpPr txBox="1"/>
            <p:nvPr/>
          </p:nvSpPr>
          <p:spPr>
            <a:xfrm>
              <a:off x="0" y="91948"/>
              <a:ext cx="1078992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Helvetica Neue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PM</a:t>
              </a:r>
              <a:endParaRPr/>
            </a:p>
          </p:txBody>
        </p:sp>
      </p:grpSp>
      <p:sp>
        <p:nvSpPr>
          <p:cNvPr id="309" name="Google Shape;309;p8"/>
          <p:cNvSpPr txBox="1"/>
          <p:nvPr/>
        </p:nvSpPr>
        <p:spPr>
          <a:xfrm>
            <a:off x="2240279" y="4246295"/>
            <a:ext cx="3337560" cy="148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PMs carry the full trust burden.</a:t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1014983" y="4559248"/>
            <a:ext cx="4562857" cy="12701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1014983" y="4649723"/>
            <a:ext cx="1078993" cy="31089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2" name="Google Shape;312;p8"/>
          <p:cNvGrpSpPr/>
          <p:nvPr/>
        </p:nvGrpSpPr>
        <p:grpSpPr>
          <a:xfrm>
            <a:off x="1014983" y="4649723"/>
            <a:ext cx="1078994" cy="310898"/>
            <a:chOff x="0" y="0"/>
            <a:chExt cx="1078992" cy="310896"/>
          </a:xfrm>
        </p:grpSpPr>
        <p:sp>
          <p:nvSpPr>
            <p:cNvPr id="313" name="Google Shape;313;p8"/>
            <p:cNvSpPr/>
            <p:nvPr/>
          </p:nvSpPr>
          <p:spPr>
            <a:xfrm>
              <a:off x="0" y="0"/>
              <a:ext cx="1078992" cy="310896"/>
            </a:xfrm>
            <a:prstGeom prst="rect">
              <a:avLst/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8"/>
            <p:cNvSpPr txBox="1"/>
            <p:nvPr/>
          </p:nvSpPr>
          <p:spPr>
            <a:xfrm>
              <a:off x="0" y="91948"/>
              <a:ext cx="1078992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Helvetica Neue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PEOPLE</a:t>
              </a:r>
              <a:endParaRPr/>
            </a:p>
          </p:txBody>
        </p:sp>
      </p:grpSp>
      <p:sp>
        <p:nvSpPr>
          <p:cNvPr id="315" name="Google Shape;315;p8"/>
          <p:cNvSpPr txBox="1"/>
          <p:nvPr/>
        </p:nvSpPr>
        <p:spPr>
          <a:xfrm>
            <a:off x="2240279" y="4730927"/>
            <a:ext cx="3337560" cy="148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Quality judgment lives in reviewers’ heads.</a:t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1014983" y="5043881"/>
            <a:ext cx="4562857" cy="12701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1014983" y="5134355"/>
            <a:ext cx="1078993" cy="31089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" name="Google Shape;318;p8"/>
          <p:cNvGrpSpPr/>
          <p:nvPr/>
        </p:nvGrpSpPr>
        <p:grpSpPr>
          <a:xfrm>
            <a:off x="1014983" y="5134355"/>
            <a:ext cx="1078994" cy="310898"/>
            <a:chOff x="0" y="0"/>
            <a:chExt cx="1078992" cy="310896"/>
          </a:xfrm>
        </p:grpSpPr>
        <p:sp>
          <p:nvSpPr>
            <p:cNvPr id="319" name="Google Shape;319;p8"/>
            <p:cNvSpPr/>
            <p:nvPr/>
          </p:nvSpPr>
          <p:spPr>
            <a:xfrm>
              <a:off x="0" y="0"/>
              <a:ext cx="1078992" cy="310896"/>
            </a:xfrm>
            <a:prstGeom prst="rect">
              <a:avLst/>
            </a:prstGeom>
            <a:solidFill>
              <a:srgbClr val="98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8"/>
            <p:cNvSpPr txBox="1"/>
            <p:nvPr/>
          </p:nvSpPr>
          <p:spPr>
            <a:xfrm>
              <a:off x="0" y="91948"/>
              <a:ext cx="1078992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Helvetica Neue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MANUAL</a:t>
              </a:r>
              <a:endParaRPr/>
            </a:p>
          </p:txBody>
        </p:sp>
      </p:grpSp>
      <p:sp>
        <p:nvSpPr>
          <p:cNvPr id="321" name="Google Shape;321;p8"/>
          <p:cNvSpPr txBox="1"/>
          <p:nvPr/>
        </p:nvSpPr>
        <p:spPr>
          <a:xfrm>
            <a:off x="2240279" y="5215559"/>
            <a:ext cx="3337560" cy="148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Outputs and logs are assembled by hand.</a:t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6355079" y="2542032"/>
            <a:ext cx="5074921" cy="306324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8"/>
          <p:cNvSpPr txBox="1"/>
          <p:nvPr/>
        </p:nvSpPr>
        <p:spPr>
          <a:xfrm>
            <a:off x="6611111" y="2793879"/>
            <a:ext cx="1463041" cy="13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 STATE</a:t>
            </a:r>
            <a:endParaRPr/>
          </a:p>
        </p:txBody>
      </p:sp>
      <p:sp>
        <p:nvSpPr>
          <p:cNvPr id="324" name="Google Shape;324;p8"/>
          <p:cNvSpPr txBox="1"/>
          <p:nvPr/>
        </p:nvSpPr>
        <p:spPr>
          <a:xfrm>
            <a:off x="7909559" y="2787827"/>
            <a:ext cx="3246121" cy="148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Exception review</a:t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6611111" y="3195827"/>
            <a:ext cx="1078993" cy="31089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8"/>
          <p:cNvSpPr txBox="1"/>
          <p:nvPr/>
        </p:nvSpPr>
        <p:spPr>
          <a:xfrm>
            <a:off x="6611111" y="3287775"/>
            <a:ext cx="107899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AGENTS</a:t>
            </a:r>
            <a:endParaRPr/>
          </a:p>
        </p:txBody>
      </p:sp>
      <p:sp>
        <p:nvSpPr>
          <p:cNvPr id="327" name="Google Shape;327;p8"/>
          <p:cNvSpPr txBox="1"/>
          <p:nvPr/>
        </p:nvSpPr>
        <p:spPr>
          <a:xfrm>
            <a:off x="7836407" y="3189074"/>
            <a:ext cx="3337560" cy="324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sz="1100" b="0">
                <a:solidFill>
                  <a:srgbClr val="1C1C1C"/>
                </a:solidFill>
                <a:latin typeface="Helvetica Neue"/>
              </a:rPr>
              <a:t>Agents cross-check identity, behavior, and open-ends → so impersonation and AI-written answers get caught, not just speeders.</a:t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6611111" y="3589984"/>
            <a:ext cx="4562857" cy="12701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6611111" y="3680459"/>
            <a:ext cx="1078993" cy="31089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 txBox="1"/>
          <p:nvPr/>
        </p:nvSpPr>
        <p:spPr>
          <a:xfrm>
            <a:off x="6611111" y="3772407"/>
            <a:ext cx="107899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PM</a:t>
            </a:r>
            <a:endParaRPr/>
          </a:p>
        </p:txBody>
      </p:sp>
      <p:sp>
        <p:nvSpPr>
          <p:cNvPr id="331" name="Google Shape;331;p8"/>
          <p:cNvSpPr txBox="1"/>
          <p:nvPr/>
        </p:nvSpPr>
        <p:spPr>
          <a:xfrm>
            <a:off x="7836407" y="3673706"/>
            <a:ext cx="3337560" cy="324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PMs review only the ~48 exceptions (4.6%) → so judgment lands where it matters.</a:t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6611111" y="4074616"/>
            <a:ext cx="4562857" cy="12701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6611111" y="4165091"/>
            <a:ext cx="1078993" cy="31089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 txBox="1"/>
          <p:nvPr/>
        </p:nvSpPr>
        <p:spPr>
          <a:xfrm>
            <a:off x="6611111" y="4257039"/>
            <a:ext cx="107899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</a:t>
            </a:r>
            <a:endParaRPr/>
          </a:p>
        </p:txBody>
      </p:sp>
      <p:sp>
        <p:nvSpPr>
          <p:cNvPr id="335" name="Google Shape;335;p8"/>
          <p:cNvSpPr txBox="1"/>
          <p:nvPr/>
        </p:nvSpPr>
        <p:spPr>
          <a:xfrm>
            <a:off x="7836407" y="4158338"/>
            <a:ext cx="3337560" cy="324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 + confidence on every call → so decisions are client-defensible.</a:t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6611111" y="4559248"/>
            <a:ext cx="4562857" cy="12701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6611111" y="4649723"/>
            <a:ext cx="1078993" cy="31089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8"/>
          <p:cNvSpPr txBox="1"/>
          <p:nvPr/>
        </p:nvSpPr>
        <p:spPr>
          <a:xfrm>
            <a:off x="6611111" y="4741671"/>
            <a:ext cx="107899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RUBRIC</a:t>
            </a:r>
            <a:endParaRPr/>
          </a:p>
        </p:txBody>
      </p:sp>
      <p:sp>
        <p:nvSpPr>
          <p:cNvPr id="339" name="Google Shape;339;p8"/>
          <p:cNvSpPr txBox="1"/>
          <p:nvPr/>
        </p:nvSpPr>
        <p:spPr>
          <a:xfrm>
            <a:off x="7836407" y="4722478"/>
            <a:ext cx="3337560" cy="165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Consistent rubrics → so quality does not vary by PM.</a:t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6611111" y="5043881"/>
            <a:ext cx="4562857" cy="12701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6611111" y="5134355"/>
            <a:ext cx="1078993" cy="31089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8"/>
          <p:cNvSpPr txBox="1"/>
          <p:nvPr/>
        </p:nvSpPr>
        <p:spPr>
          <a:xfrm>
            <a:off x="6611111" y="5226303"/>
            <a:ext cx="107899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</a:t>
            </a:r>
            <a:endParaRPr/>
          </a:p>
        </p:txBody>
      </p:sp>
      <p:sp>
        <p:nvSpPr>
          <p:cNvPr id="343" name="Google Shape;343;p8"/>
          <p:cNvSpPr txBox="1"/>
          <p:nvPr/>
        </p:nvSpPr>
        <p:spPr>
          <a:xfrm>
            <a:off x="7836407" y="5127602"/>
            <a:ext cx="3337560" cy="324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Outputs + audit summaries auto-generate → so logs are not assembled by hand.</a:t>
            </a:r>
            <a:endParaRPr/>
          </a:p>
        </p:txBody>
      </p:sp>
      <p:sp>
        <p:nvSpPr>
          <p:cNvPr id="344" name="Google Shape;344;p8"/>
          <p:cNvSpPr txBox="1"/>
          <p:nvPr/>
        </p:nvSpPr>
        <p:spPr>
          <a:xfrm>
            <a:off x="758951" y="5779008"/>
            <a:ext cx="822961" cy="136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LOOP</a:t>
            </a:r>
            <a:endParaRPr/>
          </a:p>
        </p:txBody>
      </p:sp>
      <p:sp>
        <p:nvSpPr>
          <p:cNvPr id="345" name="Google Shape;345;p8"/>
          <p:cNvSpPr txBox="1"/>
          <p:nvPr/>
        </p:nvSpPr>
        <p:spPr>
          <a:xfrm>
            <a:off x="1673351" y="5751576"/>
            <a:ext cx="9756649" cy="190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PM overrides feed the loop → so each run gets sharper and cheaper than the last.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Farnsworth technical overview background 01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F7F5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Farnsworth technical overview background 02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Farnsworth technical overview background 03"/>
          <p:cNvSpPr>
            <a:spLocks noGrp="1"/>
          </p:cNvSpPr>
          <p:nvPr/>
        </p:nvSpPr>
        <p:spPr>
          <a:xfrm>
            <a:off x="76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Farnsworth technical overview background 04"/>
          <p:cNvSpPr>
            <a:spLocks noGrp="1"/>
          </p:cNvSpPr>
          <p:nvPr/>
        </p:nvSpPr>
        <p:spPr>
          <a:xfrm>
            <a:off x="152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Farnsworth technical overview background 05"/>
          <p:cNvSpPr>
            <a:spLocks noGrp="1"/>
          </p:cNvSpPr>
          <p:nvPr/>
        </p:nvSpPr>
        <p:spPr>
          <a:xfrm>
            <a:off x="228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Farnsworth technical overview background 06"/>
          <p:cNvSpPr>
            <a:spLocks noGrp="1"/>
          </p:cNvSpPr>
          <p:nvPr/>
        </p:nvSpPr>
        <p:spPr>
          <a:xfrm>
            <a:off x="304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Farnsworth technical overview background 07"/>
          <p:cNvSpPr>
            <a:spLocks noGrp="1"/>
          </p:cNvSpPr>
          <p:nvPr/>
        </p:nvSpPr>
        <p:spPr>
          <a:xfrm>
            <a:off x="381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Farnsworth technical overview background 08"/>
          <p:cNvSpPr>
            <a:spLocks noGrp="1"/>
          </p:cNvSpPr>
          <p:nvPr/>
        </p:nvSpPr>
        <p:spPr>
          <a:xfrm>
            <a:off x="457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Farnsworth technical overview background 09"/>
          <p:cNvSpPr>
            <a:spLocks noGrp="1"/>
          </p:cNvSpPr>
          <p:nvPr/>
        </p:nvSpPr>
        <p:spPr>
          <a:xfrm>
            <a:off x="533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Farnsworth technical overview background 10"/>
          <p:cNvSpPr>
            <a:spLocks noGrp="1"/>
          </p:cNvSpPr>
          <p:nvPr/>
        </p:nvSpPr>
        <p:spPr>
          <a:xfrm>
            <a:off x="609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Farnsworth technical overview background 11"/>
          <p:cNvSpPr>
            <a:spLocks noGrp="1"/>
          </p:cNvSpPr>
          <p:nvPr/>
        </p:nvSpPr>
        <p:spPr>
          <a:xfrm>
            <a:off x="685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Farnsworth technical overview background 12"/>
          <p:cNvSpPr>
            <a:spLocks noGrp="1"/>
          </p:cNvSpPr>
          <p:nvPr/>
        </p:nvSpPr>
        <p:spPr>
          <a:xfrm>
            <a:off x="762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Farnsworth technical overview background 13"/>
          <p:cNvSpPr>
            <a:spLocks noGrp="1"/>
          </p:cNvSpPr>
          <p:nvPr/>
        </p:nvSpPr>
        <p:spPr>
          <a:xfrm>
            <a:off x="838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Farnsworth technical overview background 14"/>
          <p:cNvSpPr>
            <a:spLocks noGrp="1"/>
          </p:cNvSpPr>
          <p:nvPr/>
        </p:nvSpPr>
        <p:spPr>
          <a:xfrm>
            <a:off x="914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Farnsworth technical overview background 15"/>
          <p:cNvSpPr>
            <a:spLocks noGrp="1"/>
          </p:cNvSpPr>
          <p:nvPr/>
        </p:nvSpPr>
        <p:spPr>
          <a:xfrm>
            <a:off x="990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Farnsworth technical overview background 16"/>
          <p:cNvSpPr>
            <a:spLocks noGrp="1"/>
          </p:cNvSpPr>
          <p:nvPr/>
        </p:nvSpPr>
        <p:spPr>
          <a:xfrm>
            <a:off x="1066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Farnsworth technical overview background 17"/>
          <p:cNvSpPr>
            <a:spLocks noGrp="1"/>
          </p:cNvSpPr>
          <p:nvPr/>
        </p:nvSpPr>
        <p:spPr>
          <a:xfrm>
            <a:off x="1143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Farnsworth technical overview background 18"/>
          <p:cNvSpPr>
            <a:spLocks noGrp="1"/>
          </p:cNvSpPr>
          <p:nvPr/>
        </p:nvSpPr>
        <p:spPr>
          <a:xfrm>
            <a:off x="1219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Farnsworth technical overview background 19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Farnsworth technical overview background 20"/>
          <p:cNvSpPr>
            <a:spLocks noGrp="1"/>
          </p:cNvSpPr>
          <p:nvPr/>
        </p:nvSpPr>
        <p:spPr>
          <a:xfrm>
            <a:off x="0" y="76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Farnsworth technical overview background 21"/>
          <p:cNvSpPr>
            <a:spLocks noGrp="1"/>
          </p:cNvSpPr>
          <p:nvPr/>
        </p:nvSpPr>
        <p:spPr>
          <a:xfrm>
            <a:off x="0" y="152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Farnsworth technical overview background 22"/>
          <p:cNvSpPr>
            <a:spLocks noGrp="1"/>
          </p:cNvSpPr>
          <p:nvPr/>
        </p:nvSpPr>
        <p:spPr>
          <a:xfrm>
            <a:off x="0" y="228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Farnsworth technical overview background 23"/>
          <p:cNvSpPr>
            <a:spLocks noGrp="1"/>
          </p:cNvSpPr>
          <p:nvPr/>
        </p:nvSpPr>
        <p:spPr>
          <a:xfrm>
            <a:off x="0" y="304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Farnsworth technical overview background 24"/>
          <p:cNvSpPr>
            <a:spLocks noGrp="1"/>
          </p:cNvSpPr>
          <p:nvPr/>
        </p:nvSpPr>
        <p:spPr>
          <a:xfrm>
            <a:off x="0" y="3810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Farnsworth technical overview background 25"/>
          <p:cNvSpPr>
            <a:spLocks noGrp="1"/>
          </p:cNvSpPr>
          <p:nvPr/>
        </p:nvSpPr>
        <p:spPr>
          <a:xfrm>
            <a:off x="0" y="457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Farnsworth technical overview background 26"/>
          <p:cNvSpPr>
            <a:spLocks noGrp="1"/>
          </p:cNvSpPr>
          <p:nvPr/>
        </p:nvSpPr>
        <p:spPr>
          <a:xfrm>
            <a:off x="0" y="533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Farnsworth technical overview background 27"/>
          <p:cNvSpPr>
            <a:spLocks noGrp="1"/>
          </p:cNvSpPr>
          <p:nvPr/>
        </p:nvSpPr>
        <p:spPr>
          <a:xfrm>
            <a:off x="0" y="609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Farnsworth technical overview background 28"/>
          <p:cNvSpPr>
            <a:spLocks noGrp="1"/>
          </p:cNvSpPr>
          <p:nvPr/>
        </p:nvSpPr>
        <p:spPr>
          <a:xfrm>
            <a:off x="0" y="685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350" name="Google Shape;350;p9"/>
          <p:cNvCxnSpPr/>
          <p:nvPr/>
        </p:nvCxnSpPr>
        <p:spPr>
          <a:xfrm flipH="1">
            <a:off x="1354633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p9"/>
          <p:cNvCxnSpPr/>
          <p:nvPr/>
        </p:nvCxnSpPr>
        <p:spPr>
          <a:xfrm flipH="1">
            <a:off x="2709265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" name="Google Shape;352;p9"/>
          <p:cNvCxnSpPr/>
          <p:nvPr/>
        </p:nvCxnSpPr>
        <p:spPr>
          <a:xfrm flipH="1">
            <a:off x="4063898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9"/>
          <p:cNvCxnSpPr/>
          <p:nvPr/>
        </p:nvCxnSpPr>
        <p:spPr>
          <a:xfrm flipH="1">
            <a:off x="5418530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9"/>
          <p:cNvCxnSpPr/>
          <p:nvPr/>
        </p:nvCxnSpPr>
        <p:spPr>
          <a:xfrm flipH="1">
            <a:off x="6773164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9"/>
          <p:cNvCxnSpPr/>
          <p:nvPr/>
        </p:nvCxnSpPr>
        <p:spPr>
          <a:xfrm flipH="1">
            <a:off x="8127796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9"/>
          <p:cNvCxnSpPr/>
          <p:nvPr/>
        </p:nvCxnSpPr>
        <p:spPr>
          <a:xfrm flipH="1">
            <a:off x="9482429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9"/>
          <p:cNvCxnSpPr/>
          <p:nvPr/>
        </p:nvCxnSpPr>
        <p:spPr>
          <a:xfrm flipH="1">
            <a:off x="10837061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9"/>
          <p:cNvCxnSpPr/>
          <p:nvPr/>
        </p:nvCxnSpPr>
        <p:spPr>
          <a:xfrm>
            <a:off x="-1" y="13716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9"/>
          <p:cNvCxnSpPr/>
          <p:nvPr/>
        </p:nvCxnSpPr>
        <p:spPr>
          <a:xfrm>
            <a:off x="-1" y="27432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9"/>
          <p:cNvCxnSpPr/>
          <p:nvPr/>
        </p:nvCxnSpPr>
        <p:spPr>
          <a:xfrm>
            <a:off x="-1" y="41148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9"/>
          <p:cNvCxnSpPr/>
          <p:nvPr/>
        </p:nvCxnSpPr>
        <p:spPr>
          <a:xfrm>
            <a:off x="-1" y="54864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9"/>
          <p:cNvSpPr txBox="1"/>
          <p:nvPr/>
        </p:nvSpPr>
        <p:spPr>
          <a:xfrm>
            <a:off x="758951" y="366147"/>
            <a:ext cx="7315201" cy="13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IMPLEMENTATION OPTIONS</a:t>
            </a:r>
            <a:endParaRPr/>
          </a:p>
        </p:txBody>
      </p:sp>
      <p:sp>
        <p:nvSpPr>
          <p:cNvPr id="363" name="Google Shape;363;p9"/>
          <p:cNvSpPr txBox="1"/>
          <p:nvPr/>
        </p:nvSpPr>
        <p:spPr>
          <a:xfrm>
            <a:off x="5943600" y="366090"/>
            <a:ext cx="54864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Helvetica Neue"/>
              <a:buNone/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× FARNSWORTH / 11</a:t>
            </a:r>
            <a:endParaRPr/>
          </a:p>
        </p:txBody>
      </p:sp>
      <p:sp>
        <p:nvSpPr>
          <p:cNvPr id="364" name="Google Shape;364;p9"/>
          <p:cNvSpPr txBox="1"/>
          <p:nvPr/>
        </p:nvSpPr>
        <p:spPr>
          <a:xfrm>
            <a:off x="758952" y="932688"/>
            <a:ext cx="10671048" cy="4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Three ways to deliver it — from lightest to most scalable.</a:t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758951" y="2011679"/>
            <a:ext cx="3361945" cy="324612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9"/>
          <p:cNvSpPr txBox="1"/>
          <p:nvPr/>
        </p:nvSpPr>
        <p:spPr>
          <a:xfrm>
            <a:off x="1014983" y="2306060"/>
            <a:ext cx="2904745" cy="161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/>
          </a:p>
        </p:txBody>
      </p:sp>
      <p:sp>
        <p:nvSpPr>
          <p:cNvPr id="367" name="Google Shape;367;p9"/>
          <p:cNvSpPr txBox="1"/>
          <p:nvPr/>
        </p:nvSpPr>
        <p:spPr>
          <a:xfrm>
            <a:off x="1014983" y="2560320"/>
            <a:ext cx="2904745" cy="285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Report</a:t>
            </a:r>
            <a:endParaRPr/>
          </a:p>
        </p:txBody>
      </p:sp>
      <p:sp>
        <p:nvSpPr>
          <p:cNvPr id="368" name="Google Shape;368;p9"/>
          <p:cNvSpPr txBox="1"/>
          <p:nvPr/>
        </p:nvSpPr>
        <p:spPr>
          <a:xfrm>
            <a:off x="1014983" y="3383279"/>
            <a:ext cx="2849882" cy="659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send the export; we return an email summary with counts, top issues, and the high-priority respondents to review — plus cleaned-output attachments.</a:t>
            </a:r>
            <a:endParaRPr/>
          </a:p>
        </p:txBody>
      </p:sp>
      <p:sp>
        <p:nvSpPr>
          <p:cNvPr id="369" name="Google Shape;369;p9"/>
          <p:cNvSpPr txBox="1"/>
          <p:nvPr/>
        </p:nvSpPr>
        <p:spPr>
          <a:xfrm>
            <a:off x="1014983" y="4544567"/>
            <a:ext cx="2849882" cy="313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Outcome: fastest proof, zero change management.</a:t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4413503" y="2011679"/>
            <a:ext cx="3361945" cy="324612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9"/>
          <p:cNvSpPr txBox="1"/>
          <p:nvPr/>
        </p:nvSpPr>
        <p:spPr>
          <a:xfrm>
            <a:off x="4669535" y="2306060"/>
            <a:ext cx="2904745" cy="161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/>
          </a:p>
        </p:txBody>
      </p:sp>
      <p:sp>
        <p:nvSpPr>
          <p:cNvPr id="372" name="Google Shape;372;p9"/>
          <p:cNvSpPr txBox="1"/>
          <p:nvPr/>
        </p:nvSpPr>
        <p:spPr>
          <a:xfrm>
            <a:off x="4669535" y="2560320"/>
            <a:ext cx="2904745" cy="285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Enhanced Excel Package</a:t>
            </a:r>
            <a:endParaRPr/>
          </a:p>
        </p:txBody>
      </p:sp>
      <p:sp>
        <p:nvSpPr>
          <p:cNvPr id="373" name="Google Shape;373;p9"/>
          <p:cNvSpPr txBox="1"/>
          <p:nvPr/>
        </p:nvSpPr>
        <p:spPr>
          <a:xfrm>
            <a:off x="4669535" y="3383279"/>
            <a:ext cx="2849881" cy="659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enhanced workbook with a front-tab summary and an exception queue. PMs approve or override directly in the file instead of scanning everything.</a:t>
            </a:r>
            <a:endParaRPr/>
          </a:p>
        </p:txBody>
      </p:sp>
      <p:sp>
        <p:nvSpPr>
          <p:cNvPr id="374" name="Google Shape;374;p9"/>
          <p:cNvSpPr txBox="1"/>
          <p:nvPr/>
        </p:nvSpPr>
        <p:spPr>
          <a:xfrm>
            <a:off x="4669535" y="4544567"/>
            <a:ext cx="2849881" cy="313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Outcome: labor reduction now, in tools PMs already use.</a:t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8068056" y="2011679"/>
            <a:ext cx="3361945" cy="324612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9"/>
          <p:cNvSpPr txBox="1"/>
          <p:nvPr/>
        </p:nvSpPr>
        <p:spPr>
          <a:xfrm>
            <a:off x="8324088" y="2306060"/>
            <a:ext cx="2904745" cy="161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/>
          </a:p>
        </p:txBody>
      </p:sp>
      <p:sp>
        <p:nvSpPr>
          <p:cNvPr id="377" name="Google Shape;377;p9"/>
          <p:cNvSpPr txBox="1"/>
          <p:nvPr/>
        </p:nvSpPr>
        <p:spPr>
          <a:xfrm>
            <a:off x="8324088" y="2560320"/>
            <a:ext cx="2904745" cy="285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Lightweight Review App</a:t>
            </a:r>
            <a:endParaRPr/>
          </a:p>
        </p:txBody>
      </p:sp>
      <p:sp>
        <p:nvSpPr>
          <p:cNvPr id="378" name="Google Shape;378;p9"/>
          <p:cNvSpPr txBox="1"/>
          <p:nvPr/>
        </p:nvSpPr>
        <p:spPr>
          <a:xfrm>
            <a:off x="8324087" y="3383279"/>
            <a:ext cx="2849882" cy="659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review app showing project status and a quality summary. PMs review only exceptions — each with evidence and an approve / override button.</a:t>
            </a:r>
            <a:endParaRPr/>
          </a:p>
        </p:txBody>
      </p:sp>
      <p:sp>
        <p:nvSpPr>
          <p:cNvPr id="379" name="Google Shape;379;p9"/>
          <p:cNvSpPr txBox="1"/>
          <p:nvPr/>
        </p:nvSpPr>
        <p:spPr>
          <a:xfrm>
            <a:off x="8324087" y="4544567"/>
            <a:ext cx="2849882" cy="313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Outcome: company-wide rollout + override data that makes the system smarter.</a:t>
            </a:r>
            <a:endParaRPr/>
          </a:p>
        </p:txBody>
      </p:sp>
      <p:sp>
        <p:nvSpPr>
          <p:cNvPr id="380" name="Google Shape;380;p9"/>
          <p:cNvSpPr txBox="1"/>
          <p:nvPr/>
        </p:nvSpPr>
        <p:spPr>
          <a:xfrm>
            <a:off x="758951" y="5486399"/>
            <a:ext cx="2651761" cy="136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RECOMMENDED START</a:t>
            </a:r>
            <a:endParaRPr/>
          </a:p>
        </p:txBody>
      </p:sp>
      <p:sp>
        <p:nvSpPr>
          <p:cNvPr id="381" name="Google Shape;381;p9"/>
          <p:cNvSpPr txBox="1"/>
          <p:nvPr/>
        </p:nvSpPr>
        <p:spPr>
          <a:xfrm>
            <a:off x="3502152" y="5458967"/>
            <a:ext cx="7927849" cy="368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Helvetica Neue"/>
              <a:buNone/>
            </a:pPr>
            <a:r>
              <a:rPr sz="1120" b="0">
                <a:solidFill>
                  <a:srgbClr val="1C1C1C"/>
                </a:solidFill>
                <a:latin typeface="Helvetica Neue"/>
              </a:rPr>
              <a:t>Recommended start: Enhanced Excel + email summary. Auto-clearing the ~81% with no concerns and routing only the respondents that need judgment is the value anchor; per-cycle time saved, PM count, and cycles/week are confirmed in Discovery. The payout has three parts we'll size with you: incentive dollars paid to fraudulent completes, PM labor to filter them, and client-trust risk if a bad respondent slips through — inputs to the conversation, not numbers on the page.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Farnsworth technical overview background 01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F7F5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Farnsworth technical overview background 02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Farnsworth technical overview background 03"/>
          <p:cNvSpPr>
            <a:spLocks noGrp="1"/>
          </p:cNvSpPr>
          <p:nvPr/>
        </p:nvSpPr>
        <p:spPr>
          <a:xfrm>
            <a:off x="76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Farnsworth technical overview background 04"/>
          <p:cNvSpPr>
            <a:spLocks noGrp="1"/>
          </p:cNvSpPr>
          <p:nvPr/>
        </p:nvSpPr>
        <p:spPr>
          <a:xfrm>
            <a:off x="152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Farnsworth technical overview background 05"/>
          <p:cNvSpPr>
            <a:spLocks noGrp="1"/>
          </p:cNvSpPr>
          <p:nvPr/>
        </p:nvSpPr>
        <p:spPr>
          <a:xfrm>
            <a:off x="228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Farnsworth technical overview background 06"/>
          <p:cNvSpPr>
            <a:spLocks noGrp="1"/>
          </p:cNvSpPr>
          <p:nvPr/>
        </p:nvSpPr>
        <p:spPr>
          <a:xfrm>
            <a:off x="304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Farnsworth technical overview background 07"/>
          <p:cNvSpPr>
            <a:spLocks noGrp="1"/>
          </p:cNvSpPr>
          <p:nvPr/>
        </p:nvSpPr>
        <p:spPr>
          <a:xfrm>
            <a:off x="381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Farnsworth technical overview background 08"/>
          <p:cNvSpPr>
            <a:spLocks noGrp="1"/>
          </p:cNvSpPr>
          <p:nvPr/>
        </p:nvSpPr>
        <p:spPr>
          <a:xfrm>
            <a:off x="457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Farnsworth technical overview background 09"/>
          <p:cNvSpPr>
            <a:spLocks noGrp="1"/>
          </p:cNvSpPr>
          <p:nvPr/>
        </p:nvSpPr>
        <p:spPr>
          <a:xfrm>
            <a:off x="533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Farnsworth technical overview background 10"/>
          <p:cNvSpPr>
            <a:spLocks noGrp="1"/>
          </p:cNvSpPr>
          <p:nvPr/>
        </p:nvSpPr>
        <p:spPr>
          <a:xfrm>
            <a:off x="609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Farnsworth technical overview background 11"/>
          <p:cNvSpPr>
            <a:spLocks noGrp="1"/>
          </p:cNvSpPr>
          <p:nvPr/>
        </p:nvSpPr>
        <p:spPr>
          <a:xfrm>
            <a:off x="685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Farnsworth technical overview background 12"/>
          <p:cNvSpPr>
            <a:spLocks noGrp="1"/>
          </p:cNvSpPr>
          <p:nvPr/>
        </p:nvSpPr>
        <p:spPr>
          <a:xfrm>
            <a:off x="762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Farnsworth technical overview background 13"/>
          <p:cNvSpPr>
            <a:spLocks noGrp="1"/>
          </p:cNvSpPr>
          <p:nvPr/>
        </p:nvSpPr>
        <p:spPr>
          <a:xfrm>
            <a:off x="838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Farnsworth technical overview background 14"/>
          <p:cNvSpPr>
            <a:spLocks noGrp="1"/>
          </p:cNvSpPr>
          <p:nvPr/>
        </p:nvSpPr>
        <p:spPr>
          <a:xfrm>
            <a:off x="914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Farnsworth technical overview background 15"/>
          <p:cNvSpPr>
            <a:spLocks noGrp="1"/>
          </p:cNvSpPr>
          <p:nvPr/>
        </p:nvSpPr>
        <p:spPr>
          <a:xfrm>
            <a:off x="990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Farnsworth technical overview background 16"/>
          <p:cNvSpPr>
            <a:spLocks noGrp="1"/>
          </p:cNvSpPr>
          <p:nvPr/>
        </p:nvSpPr>
        <p:spPr>
          <a:xfrm>
            <a:off x="1066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Farnsworth technical overview background 17"/>
          <p:cNvSpPr>
            <a:spLocks noGrp="1"/>
          </p:cNvSpPr>
          <p:nvPr/>
        </p:nvSpPr>
        <p:spPr>
          <a:xfrm>
            <a:off x="1143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Farnsworth technical overview background 18"/>
          <p:cNvSpPr>
            <a:spLocks noGrp="1"/>
          </p:cNvSpPr>
          <p:nvPr/>
        </p:nvSpPr>
        <p:spPr>
          <a:xfrm>
            <a:off x="1219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Farnsworth technical overview background 19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Farnsworth technical overview background 20"/>
          <p:cNvSpPr>
            <a:spLocks noGrp="1"/>
          </p:cNvSpPr>
          <p:nvPr/>
        </p:nvSpPr>
        <p:spPr>
          <a:xfrm>
            <a:off x="0" y="76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Farnsworth technical overview background 21"/>
          <p:cNvSpPr>
            <a:spLocks noGrp="1"/>
          </p:cNvSpPr>
          <p:nvPr/>
        </p:nvSpPr>
        <p:spPr>
          <a:xfrm>
            <a:off x="0" y="152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Farnsworth technical overview background 22"/>
          <p:cNvSpPr>
            <a:spLocks noGrp="1"/>
          </p:cNvSpPr>
          <p:nvPr/>
        </p:nvSpPr>
        <p:spPr>
          <a:xfrm>
            <a:off x="0" y="228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Farnsworth technical overview background 23"/>
          <p:cNvSpPr>
            <a:spLocks noGrp="1"/>
          </p:cNvSpPr>
          <p:nvPr/>
        </p:nvSpPr>
        <p:spPr>
          <a:xfrm>
            <a:off x="0" y="304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Farnsworth technical overview background 24"/>
          <p:cNvSpPr>
            <a:spLocks noGrp="1"/>
          </p:cNvSpPr>
          <p:nvPr/>
        </p:nvSpPr>
        <p:spPr>
          <a:xfrm>
            <a:off x="0" y="3810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Farnsworth technical overview background 25"/>
          <p:cNvSpPr>
            <a:spLocks noGrp="1"/>
          </p:cNvSpPr>
          <p:nvPr/>
        </p:nvSpPr>
        <p:spPr>
          <a:xfrm>
            <a:off x="0" y="457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Farnsworth technical overview background 26"/>
          <p:cNvSpPr>
            <a:spLocks noGrp="1"/>
          </p:cNvSpPr>
          <p:nvPr/>
        </p:nvSpPr>
        <p:spPr>
          <a:xfrm>
            <a:off x="0" y="533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Farnsworth technical overview background 27"/>
          <p:cNvSpPr>
            <a:spLocks noGrp="1"/>
          </p:cNvSpPr>
          <p:nvPr/>
        </p:nvSpPr>
        <p:spPr>
          <a:xfrm>
            <a:off x="0" y="609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Farnsworth technical overview background 28"/>
          <p:cNvSpPr>
            <a:spLocks noGrp="1"/>
          </p:cNvSpPr>
          <p:nvPr/>
        </p:nvSpPr>
        <p:spPr>
          <a:xfrm>
            <a:off x="0" y="685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386" name="Google Shape;386;p10"/>
          <p:cNvCxnSpPr/>
          <p:nvPr/>
        </p:nvCxnSpPr>
        <p:spPr>
          <a:xfrm flipH="1">
            <a:off x="1354633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" name="Google Shape;387;p10"/>
          <p:cNvCxnSpPr/>
          <p:nvPr/>
        </p:nvCxnSpPr>
        <p:spPr>
          <a:xfrm flipH="1">
            <a:off x="2709265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p10"/>
          <p:cNvCxnSpPr/>
          <p:nvPr/>
        </p:nvCxnSpPr>
        <p:spPr>
          <a:xfrm flipH="1">
            <a:off x="4063898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p10"/>
          <p:cNvCxnSpPr/>
          <p:nvPr/>
        </p:nvCxnSpPr>
        <p:spPr>
          <a:xfrm flipH="1">
            <a:off x="5418530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0" name="Google Shape;390;p10"/>
          <p:cNvCxnSpPr/>
          <p:nvPr/>
        </p:nvCxnSpPr>
        <p:spPr>
          <a:xfrm flipH="1">
            <a:off x="6773164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1" name="Google Shape;391;p10"/>
          <p:cNvCxnSpPr/>
          <p:nvPr/>
        </p:nvCxnSpPr>
        <p:spPr>
          <a:xfrm flipH="1">
            <a:off x="8127796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" name="Google Shape;392;p10"/>
          <p:cNvCxnSpPr/>
          <p:nvPr/>
        </p:nvCxnSpPr>
        <p:spPr>
          <a:xfrm flipH="1">
            <a:off x="9482429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" name="Google Shape;393;p10"/>
          <p:cNvCxnSpPr/>
          <p:nvPr/>
        </p:nvCxnSpPr>
        <p:spPr>
          <a:xfrm flipH="1">
            <a:off x="10837061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p10"/>
          <p:cNvCxnSpPr/>
          <p:nvPr/>
        </p:nvCxnSpPr>
        <p:spPr>
          <a:xfrm>
            <a:off x="-1" y="13716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10"/>
          <p:cNvCxnSpPr/>
          <p:nvPr/>
        </p:nvCxnSpPr>
        <p:spPr>
          <a:xfrm>
            <a:off x="-1" y="27432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10"/>
          <p:cNvCxnSpPr/>
          <p:nvPr/>
        </p:nvCxnSpPr>
        <p:spPr>
          <a:xfrm>
            <a:off x="-1" y="41148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" name="Google Shape;397;p10"/>
          <p:cNvCxnSpPr/>
          <p:nvPr/>
        </p:nvCxnSpPr>
        <p:spPr>
          <a:xfrm>
            <a:off x="-1" y="54864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8" name="Google Shape;398;p10"/>
          <p:cNvSpPr txBox="1"/>
          <p:nvPr/>
        </p:nvSpPr>
        <p:spPr>
          <a:xfrm>
            <a:off x="758951" y="366147"/>
            <a:ext cx="7315201" cy="13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ENGAGEMENT</a:t>
            </a:r>
            <a:endParaRPr/>
          </a:p>
        </p:txBody>
      </p:sp>
      <p:sp>
        <p:nvSpPr>
          <p:cNvPr id="399" name="Google Shape;399;p10"/>
          <p:cNvSpPr txBox="1"/>
          <p:nvPr/>
        </p:nvSpPr>
        <p:spPr>
          <a:xfrm>
            <a:off x="5943600" y="366090"/>
            <a:ext cx="54864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Helvetica Neue"/>
              <a:buNone/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× FARNSWORTH / 12</a:t>
            </a:r>
            <a:endParaRPr/>
          </a:p>
        </p:txBody>
      </p:sp>
      <p:sp>
        <p:nvSpPr>
          <p:cNvPr id="400" name="Google Shape;400;p10"/>
          <p:cNvSpPr txBox="1"/>
          <p:nvPr/>
        </p:nvSpPr>
        <p:spPr>
          <a:xfrm>
            <a:off x="758952" y="932688"/>
            <a:ext cx="10671048" cy="83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700"/>
              <a:buFont typeface="Helvetica Neue"/>
              <a:buNone/>
            </a:pPr>
            <a:r>
              <a:rPr b="1" i="0" lang="en-US" sz="27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focused, paid pilot — prove value on real Decipher exports, then scale.</a:t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758951" y="2285999"/>
            <a:ext cx="3147518" cy="4572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0"/>
          <p:cNvSpPr txBox="1"/>
          <p:nvPr/>
        </p:nvSpPr>
        <p:spPr>
          <a:xfrm>
            <a:off x="758951" y="2525516"/>
            <a:ext cx="3313178" cy="161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/>
          </a:p>
        </p:txBody>
      </p:sp>
      <p:sp>
        <p:nvSpPr>
          <p:cNvPr id="403" name="Google Shape;403;p10"/>
          <p:cNvSpPr txBox="1"/>
          <p:nvPr/>
        </p:nvSpPr>
        <p:spPr>
          <a:xfrm>
            <a:off x="758951" y="2807589"/>
            <a:ext cx="3313178" cy="310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Phase 1</a:t>
            </a:r>
            <a:endParaRPr/>
          </a:p>
        </p:txBody>
      </p:sp>
      <p:sp>
        <p:nvSpPr>
          <p:cNvPr id="404" name="Google Shape;404;p10"/>
          <p:cNvSpPr txBox="1"/>
          <p:nvPr/>
        </p:nvSpPr>
        <p:spPr>
          <a:xfrm>
            <a:off x="758951" y="3279502"/>
            <a:ext cx="3313178" cy="198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Discovery &amp; Baseline POC</a:t>
            </a:r>
            <a:endParaRPr/>
          </a:p>
        </p:txBody>
      </p:sp>
      <p:sp>
        <p:nvSpPr>
          <p:cNvPr id="405" name="Google Shape;405;p10"/>
          <p:cNvSpPr txBox="1"/>
          <p:nvPr/>
        </p:nvSpPr>
        <p:spPr>
          <a:xfrm>
            <a:off x="758951" y="3628961"/>
            <a:ext cx="3313178" cy="148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WEEK</a:t>
            </a:r>
            <a:endParaRPr/>
          </a:p>
        </p:txBody>
      </p:sp>
      <p:sp>
        <p:nvSpPr>
          <p:cNvPr id="406" name="Google Shape;406;p10"/>
          <p:cNvSpPr txBox="1"/>
          <p:nvPr/>
        </p:nvSpPr>
        <p:spPr>
          <a:xfrm>
            <a:off x="758951" y="3950208"/>
            <a:ext cx="3221738" cy="668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Confirm and develop the workflow, locate the final keep / remove decision, define the flag taxonomy and rubric, and establish baseline review time and success metrics.</a:t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4437888" y="2285999"/>
            <a:ext cx="3147518" cy="4572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0"/>
          <p:cNvSpPr txBox="1"/>
          <p:nvPr/>
        </p:nvSpPr>
        <p:spPr>
          <a:xfrm>
            <a:off x="4437887" y="2525516"/>
            <a:ext cx="3313178" cy="161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/>
          </a:p>
        </p:txBody>
      </p:sp>
      <p:sp>
        <p:nvSpPr>
          <p:cNvPr id="409" name="Google Shape;409;p10"/>
          <p:cNvSpPr txBox="1"/>
          <p:nvPr/>
        </p:nvSpPr>
        <p:spPr>
          <a:xfrm>
            <a:off x="4437887" y="2807589"/>
            <a:ext cx="3313178" cy="310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Phase 2</a:t>
            </a:r>
            <a:endParaRPr/>
          </a:p>
        </p:txBody>
      </p:sp>
      <p:sp>
        <p:nvSpPr>
          <p:cNvPr id="410" name="Google Shape;410;p10"/>
          <p:cNvSpPr txBox="1"/>
          <p:nvPr/>
        </p:nvSpPr>
        <p:spPr>
          <a:xfrm>
            <a:off x="4437887" y="3279502"/>
            <a:ext cx="3313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Workflow Integration</a:t>
            </a:r>
            <a:endParaRPr/>
          </a:p>
        </p:txBody>
      </p:sp>
      <p:sp>
        <p:nvSpPr>
          <p:cNvPr id="411" name="Google Shape;411;p10"/>
          <p:cNvSpPr txBox="1"/>
          <p:nvPr/>
        </p:nvSpPr>
        <p:spPr>
          <a:xfrm>
            <a:off x="4437887" y="3628961"/>
            <a:ext cx="3313178" cy="148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1-2 WEEKS</a:t>
            </a:r>
            <a:endParaRPr/>
          </a:p>
        </p:txBody>
      </p:sp>
      <p:sp>
        <p:nvSpPr>
          <p:cNvPr id="412" name="Google Shape;412;p10"/>
          <p:cNvSpPr txBox="1"/>
          <p:nvPr/>
        </p:nvSpPr>
        <p:spPr>
          <a:xfrm>
            <a:off x="4437887" y="3950208"/>
            <a:ext cx="32217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Implement the working review process </a:t>
            </a:r>
            <a:r>
              <a:rPr lang="en-US" sz="1100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and conenct </a:t>
            </a: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Decipher a</a:t>
            </a:r>
            <a:r>
              <a:rPr lang="en-US" sz="1100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nd relevant tools</a:t>
            </a: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generate evidence-backed recommendations, and produce outputs PMs can use.</a:t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8116823" y="2285999"/>
            <a:ext cx="3147518" cy="4572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0"/>
          <p:cNvSpPr txBox="1"/>
          <p:nvPr/>
        </p:nvSpPr>
        <p:spPr>
          <a:xfrm>
            <a:off x="8116823" y="2525516"/>
            <a:ext cx="3313177" cy="161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/>
          </a:p>
        </p:txBody>
      </p:sp>
      <p:sp>
        <p:nvSpPr>
          <p:cNvPr id="415" name="Google Shape;415;p10"/>
          <p:cNvSpPr txBox="1"/>
          <p:nvPr/>
        </p:nvSpPr>
        <p:spPr>
          <a:xfrm>
            <a:off x="8116823" y="2807589"/>
            <a:ext cx="3313177" cy="310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Phase 3</a:t>
            </a:r>
            <a:endParaRPr/>
          </a:p>
        </p:txBody>
      </p:sp>
      <p:sp>
        <p:nvSpPr>
          <p:cNvPr id="416" name="Google Shape;416;p10"/>
          <p:cNvSpPr txBox="1"/>
          <p:nvPr/>
        </p:nvSpPr>
        <p:spPr>
          <a:xfrm>
            <a:off x="8116823" y="3279502"/>
            <a:ext cx="3313177" cy="198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Calibration &amp; Impact</a:t>
            </a:r>
            <a:endParaRPr/>
          </a:p>
        </p:txBody>
      </p:sp>
      <p:sp>
        <p:nvSpPr>
          <p:cNvPr id="417" name="Google Shape;417;p10"/>
          <p:cNvSpPr txBox="1"/>
          <p:nvPr/>
        </p:nvSpPr>
        <p:spPr>
          <a:xfrm>
            <a:off x="8116823" y="3628961"/>
            <a:ext cx="3313177" cy="148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1–2 WEEKS</a:t>
            </a:r>
            <a:endParaRPr/>
          </a:p>
        </p:txBody>
      </p:sp>
      <p:sp>
        <p:nvSpPr>
          <p:cNvPr id="418" name="Google Shape;418;p10"/>
          <p:cNvSpPr txBox="1"/>
          <p:nvPr/>
        </p:nvSpPr>
        <p:spPr>
          <a:xfrm>
            <a:off x="8116823" y="3950208"/>
            <a:ext cx="3221737" cy="494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Compare AI recommendations to PM decisions, measure review-time reduction, set thresholds, and recommend the rollout path.</a:t>
            </a:r>
            <a:endParaRPr/>
          </a:p>
        </p:txBody>
      </p:sp>
      <p:sp>
        <p:nvSpPr>
          <p:cNvPr id="419" name="Google Shape;419;p10"/>
          <p:cNvSpPr txBox="1"/>
          <p:nvPr/>
        </p:nvSpPr>
        <p:spPr>
          <a:xfrm>
            <a:off x="758951" y="5760720"/>
            <a:ext cx="1371601" cy="136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</a:t>
            </a:r>
            <a:endParaRPr/>
          </a:p>
        </p:txBody>
      </p:sp>
      <p:sp>
        <p:nvSpPr>
          <p:cNvPr id="420" name="Google Shape;420;p10"/>
          <p:cNvSpPr txBox="1"/>
          <p:nvPr/>
        </p:nvSpPr>
        <p:spPr>
          <a:xfrm>
            <a:off x="2221991" y="5733288"/>
            <a:ext cx="9208010" cy="173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Reduce manual PM review time while preserving or improving Farnsworth’s respondent-quality standards.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Farnsworth technical overview background 01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F7F5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Farnsworth technical overview background 02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Farnsworth technical overview background 03"/>
          <p:cNvSpPr>
            <a:spLocks noGrp="1"/>
          </p:cNvSpPr>
          <p:nvPr/>
        </p:nvSpPr>
        <p:spPr>
          <a:xfrm>
            <a:off x="76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Farnsworth technical overview background 04"/>
          <p:cNvSpPr>
            <a:spLocks noGrp="1"/>
          </p:cNvSpPr>
          <p:nvPr/>
        </p:nvSpPr>
        <p:spPr>
          <a:xfrm>
            <a:off x="152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Farnsworth technical overview background 05"/>
          <p:cNvSpPr>
            <a:spLocks noGrp="1"/>
          </p:cNvSpPr>
          <p:nvPr/>
        </p:nvSpPr>
        <p:spPr>
          <a:xfrm>
            <a:off x="228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Farnsworth technical overview background 06"/>
          <p:cNvSpPr>
            <a:spLocks noGrp="1"/>
          </p:cNvSpPr>
          <p:nvPr/>
        </p:nvSpPr>
        <p:spPr>
          <a:xfrm>
            <a:off x="304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Farnsworth technical overview background 07"/>
          <p:cNvSpPr>
            <a:spLocks noGrp="1"/>
          </p:cNvSpPr>
          <p:nvPr/>
        </p:nvSpPr>
        <p:spPr>
          <a:xfrm>
            <a:off x="381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Farnsworth technical overview background 08"/>
          <p:cNvSpPr>
            <a:spLocks noGrp="1"/>
          </p:cNvSpPr>
          <p:nvPr/>
        </p:nvSpPr>
        <p:spPr>
          <a:xfrm>
            <a:off x="457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0" name="Farnsworth technical overview background 09"/>
          <p:cNvSpPr>
            <a:spLocks noGrp="1"/>
          </p:cNvSpPr>
          <p:nvPr/>
        </p:nvSpPr>
        <p:spPr>
          <a:xfrm>
            <a:off x="533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Farnsworth technical overview background 10"/>
          <p:cNvSpPr>
            <a:spLocks noGrp="1"/>
          </p:cNvSpPr>
          <p:nvPr/>
        </p:nvSpPr>
        <p:spPr>
          <a:xfrm>
            <a:off x="609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Farnsworth technical overview background 11"/>
          <p:cNvSpPr>
            <a:spLocks noGrp="1"/>
          </p:cNvSpPr>
          <p:nvPr/>
        </p:nvSpPr>
        <p:spPr>
          <a:xfrm>
            <a:off x="685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Farnsworth technical overview background 12"/>
          <p:cNvSpPr>
            <a:spLocks noGrp="1"/>
          </p:cNvSpPr>
          <p:nvPr/>
        </p:nvSpPr>
        <p:spPr>
          <a:xfrm>
            <a:off x="762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Farnsworth technical overview background 13"/>
          <p:cNvSpPr>
            <a:spLocks noGrp="1"/>
          </p:cNvSpPr>
          <p:nvPr/>
        </p:nvSpPr>
        <p:spPr>
          <a:xfrm>
            <a:off x="838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Farnsworth technical overview background 14"/>
          <p:cNvSpPr>
            <a:spLocks noGrp="1"/>
          </p:cNvSpPr>
          <p:nvPr/>
        </p:nvSpPr>
        <p:spPr>
          <a:xfrm>
            <a:off x="914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Farnsworth technical overview background 15"/>
          <p:cNvSpPr>
            <a:spLocks noGrp="1"/>
          </p:cNvSpPr>
          <p:nvPr/>
        </p:nvSpPr>
        <p:spPr>
          <a:xfrm>
            <a:off x="990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Farnsworth technical overview background 16"/>
          <p:cNvSpPr>
            <a:spLocks noGrp="1"/>
          </p:cNvSpPr>
          <p:nvPr/>
        </p:nvSpPr>
        <p:spPr>
          <a:xfrm>
            <a:off x="1066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Farnsworth technical overview background 17"/>
          <p:cNvSpPr>
            <a:spLocks noGrp="1"/>
          </p:cNvSpPr>
          <p:nvPr/>
        </p:nvSpPr>
        <p:spPr>
          <a:xfrm>
            <a:off x="1143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Farnsworth technical overview background 18"/>
          <p:cNvSpPr>
            <a:spLocks noGrp="1"/>
          </p:cNvSpPr>
          <p:nvPr/>
        </p:nvSpPr>
        <p:spPr>
          <a:xfrm>
            <a:off x="1219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Farnsworth technical overview background 19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Farnsworth technical overview background 20"/>
          <p:cNvSpPr>
            <a:spLocks noGrp="1"/>
          </p:cNvSpPr>
          <p:nvPr/>
        </p:nvSpPr>
        <p:spPr>
          <a:xfrm>
            <a:off x="0" y="76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Farnsworth technical overview background 21"/>
          <p:cNvSpPr>
            <a:spLocks noGrp="1"/>
          </p:cNvSpPr>
          <p:nvPr/>
        </p:nvSpPr>
        <p:spPr>
          <a:xfrm>
            <a:off x="0" y="152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Farnsworth technical overview background 22"/>
          <p:cNvSpPr>
            <a:spLocks noGrp="1"/>
          </p:cNvSpPr>
          <p:nvPr/>
        </p:nvSpPr>
        <p:spPr>
          <a:xfrm>
            <a:off x="0" y="228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Farnsworth technical overview background 23"/>
          <p:cNvSpPr>
            <a:spLocks noGrp="1"/>
          </p:cNvSpPr>
          <p:nvPr/>
        </p:nvSpPr>
        <p:spPr>
          <a:xfrm>
            <a:off x="0" y="304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Farnsworth technical overview background 24"/>
          <p:cNvSpPr>
            <a:spLocks noGrp="1"/>
          </p:cNvSpPr>
          <p:nvPr/>
        </p:nvSpPr>
        <p:spPr>
          <a:xfrm>
            <a:off x="0" y="3810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Farnsworth technical overview background 25"/>
          <p:cNvSpPr>
            <a:spLocks noGrp="1"/>
          </p:cNvSpPr>
          <p:nvPr/>
        </p:nvSpPr>
        <p:spPr>
          <a:xfrm>
            <a:off x="0" y="457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Farnsworth technical overview background 26"/>
          <p:cNvSpPr>
            <a:spLocks noGrp="1"/>
          </p:cNvSpPr>
          <p:nvPr/>
        </p:nvSpPr>
        <p:spPr>
          <a:xfrm>
            <a:off x="0" y="533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Farnsworth technical overview background 27"/>
          <p:cNvSpPr>
            <a:spLocks noGrp="1"/>
          </p:cNvSpPr>
          <p:nvPr/>
        </p:nvSpPr>
        <p:spPr>
          <a:xfrm>
            <a:off x="0" y="609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9" name="Farnsworth technical overview background 28"/>
          <p:cNvSpPr>
            <a:spLocks noGrp="1"/>
          </p:cNvSpPr>
          <p:nvPr/>
        </p:nvSpPr>
        <p:spPr>
          <a:xfrm>
            <a:off x="0" y="685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425" name="Google Shape;425;p11"/>
          <p:cNvCxnSpPr/>
          <p:nvPr/>
        </p:nvCxnSpPr>
        <p:spPr>
          <a:xfrm flipH="1">
            <a:off x="1354633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11"/>
          <p:cNvCxnSpPr/>
          <p:nvPr/>
        </p:nvCxnSpPr>
        <p:spPr>
          <a:xfrm flipH="1">
            <a:off x="2709265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11"/>
          <p:cNvCxnSpPr/>
          <p:nvPr/>
        </p:nvCxnSpPr>
        <p:spPr>
          <a:xfrm flipH="1">
            <a:off x="4063898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11"/>
          <p:cNvCxnSpPr/>
          <p:nvPr/>
        </p:nvCxnSpPr>
        <p:spPr>
          <a:xfrm flipH="1">
            <a:off x="5418530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" name="Google Shape;429;p11"/>
          <p:cNvCxnSpPr/>
          <p:nvPr/>
        </p:nvCxnSpPr>
        <p:spPr>
          <a:xfrm flipH="1">
            <a:off x="6773164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p11"/>
          <p:cNvCxnSpPr/>
          <p:nvPr/>
        </p:nvCxnSpPr>
        <p:spPr>
          <a:xfrm flipH="1">
            <a:off x="8127796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11"/>
          <p:cNvCxnSpPr/>
          <p:nvPr/>
        </p:nvCxnSpPr>
        <p:spPr>
          <a:xfrm flipH="1">
            <a:off x="9482429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" name="Google Shape;432;p11"/>
          <p:cNvCxnSpPr/>
          <p:nvPr/>
        </p:nvCxnSpPr>
        <p:spPr>
          <a:xfrm flipH="1">
            <a:off x="10837061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" name="Google Shape;433;p11"/>
          <p:cNvCxnSpPr/>
          <p:nvPr/>
        </p:nvCxnSpPr>
        <p:spPr>
          <a:xfrm>
            <a:off x="-1" y="13716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" name="Google Shape;434;p11"/>
          <p:cNvCxnSpPr/>
          <p:nvPr/>
        </p:nvCxnSpPr>
        <p:spPr>
          <a:xfrm>
            <a:off x="-1" y="27432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p11"/>
          <p:cNvCxnSpPr/>
          <p:nvPr/>
        </p:nvCxnSpPr>
        <p:spPr>
          <a:xfrm>
            <a:off x="-1" y="41148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6" name="Google Shape;436;p11"/>
          <p:cNvCxnSpPr/>
          <p:nvPr/>
        </p:nvCxnSpPr>
        <p:spPr>
          <a:xfrm>
            <a:off x="-1" y="54864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7" name="Google Shape;437;p11"/>
          <p:cNvSpPr txBox="1"/>
          <p:nvPr/>
        </p:nvSpPr>
        <p:spPr>
          <a:xfrm>
            <a:off x="758951" y="366147"/>
            <a:ext cx="7315201" cy="13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DISCOVERY — TO ALIGN ON</a:t>
            </a:r>
            <a:endParaRPr/>
          </a:p>
        </p:txBody>
      </p:sp>
      <p:sp>
        <p:nvSpPr>
          <p:cNvPr id="438" name="Google Shape;438;p11"/>
          <p:cNvSpPr txBox="1"/>
          <p:nvPr/>
        </p:nvSpPr>
        <p:spPr>
          <a:xfrm>
            <a:off x="5943600" y="366090"/>
            <a:ext cx="54864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Helvetica Neue"/>
              <a:buNone/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× FARNSWORTH / 13</a:t>
            </a:r>
            <a:endParaRPr/>
          </a:p>
        </p:txBody>
      </p:sp>
      <p:sp>
        <p:nvSpPr>
          <p:cNvPr id="439" name="Google Shape;439;p11"/>
          <p:cNvSpPr txBox="1"/>
          <p:nvPr/>
        </p:nvSpPr>
        <p:spPr>
          <a:xfrm>
            <a:off x="758952" y="932688"/>
            <a:ext cx="10671048" cy="409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700"/>
              <a:buFont typeface="Helvetica Neue"/>
              <a:buNone/>
            </a:pPr>
            <a:r>
              <a:rPr b="1" i="0" lang="en-US" sz="27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Questions we’ll work through together before drafting the SOW.</a:t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758951" y="2011679"/>
            <a:ext cx="5074922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1"/>
          <p:cNvSpPr txBox="1"/>
          <p:nvPr/>
        </p:nvSpPr>
        <p:spPr>
          <a:xfrm>
            <a:off x="1033272" y="2261330"/>
            <a:ext cx="4526280" cy="223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Pain &amp; current workflow</a:t>
            </a:r>
            <a:endParaRPr/>
          </a:p>
        </p:txBody>
      </p:sp>
      <p:sp>
        <p:nvSpPr>
          <p:cNvPr id="442" name="Google Shape;442;p11"/>
          <p:cNvSpPr txBox="1"/>
          <p:nvPr/>
        </p:nvSpPr>
        <p:spPr>
          <a:xfrm>
            <a:off x="1033272" y="2615183"/>
            <a:ext cx="4572001" cy="559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Helvetica Neue"/>
              <a:buChar char="–"/>
            </a:pPr>
            <a:r>
              <a:rPr b="0" i="0" lang="en-US" sz="10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long does PM review take today, and which part takes longest?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Helvetica Neue"/>
              <a:buChar char="–"/>
            </a:pPr>
            <a:r>
              <a:rPr b="0" i="0" lang="en-US" sz="10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many cleaning cycles in a typical active week?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Helvetica Neue"/>
              <a:buChar char="–"/>
            </a:pPr>
            <a:r>
              <a:rPr b="0" i="0" lang="en-US" sz="10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many PMs for company-wide adoption?</a:t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6355079" y="2011679"/>
            <a:ext cx="5074921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1"/>
          <p:cNvSpPr txBox="1"/>
          <p:nvPr/>
        </p:nvSpPr>
        <p:spPr>
          <a:xfrm>
            <a:off x="6629400" y="2261330"/>
            <a:ext cx="4526280" cy="223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Inputs &amp; outputs</a:t>
            </a:r>
            <a:endParaRPr/>
          </a:p>
        </p:txBody>
      </p:sp>
      <p:sp>
        <p:nvSpPr>
          <p:cNvPr id="445" name="Google Shape;445;p11"/>
          <p:cNvSpPr txBox="1"/>
          <p:nvPr/>
        </p:nvSpPr>
        <p:spPr>
          <a:xfrm>
            <a:off x="6629400" y="2615183"/>
            <a:ext cx="4572000" cy="559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Helvetica Neue"/>
              <a:buChar char="–"/>
            </a:pPr>
            <a:r>
              <a:rPr sz="1150" b="0">
                <a:solidFill>
                  <a:srgbClr val="1C1C1C"/>
                </a:solidFill>
                <a:latin typeface="Helvetica Neue"/>
              </a:rPr>
              <a:t>Which Decipher export formats should we support?</a:t>
            </a:r>
            <a:endParaRPr/>
          </a:p>
          <a:p>
            <a:pPr>
              <a:spcBef>
                <a:spcPts val="0"/>
              </a:spcBef>
            </a:pPr>
            <a:r>
              <a:rPr sz="1150" b="0">
                <a:solidFill>
                  <a:srgbClr val="1C1C1C"/>
                </a:solidFill>
                <a:latin typeface="Helvetica Neue"/>
              </a:rPr>
              <a:t>Does every study include a consistent data map?</a:t>
            </a:r>
          </a:p>
          <a:p>
            <a:pPr>
              <a:spcBef>
                <a:spcPts val="0"/>
              </a:spcBef>
            </a:pPr>
            <a:r>
              <a:rPr sz="1150" b="0">
                <a:solidFill>
                  <a:srgbClr val="1C1C1C"/>
                </a:solidFill>
                <a:latin typeface="Helvetica Neue"/>
              </a:rPr>
              <a:t>Is the routine cleaning cycle the 50–200 interim batch, the full closeout file (like the 1,036-respondent May 26 study), or both? Which should the pilot target first?</a:t>
            </a:r>
          </a:p>
        </p:txBody>
      </p:sp>
      <p:sp>
        <p:nvSpPr>
          <p:cNvPr id="446" name="Google Shape;446;p11"/>
          <p:cNvSpPr/>
          <p:nvPr/>
        </p:nvSpPr>
        <p:spPr>
          <a:xfrm>
            <a:off x="758951" y="4069079"/>
            <a:ext cx="5074922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1"/>
          <p:cNvSpPr txBox="1"/>
          <p:nvPr/>
        </p:nvSpPr>
        <p:spPr>
          <a:xfrm>
            <a:off x="1033272" y="4318730"/>
            <a:ext cx="4526280" cy="223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Decision logic &amp; calibration</a:t>
            </a:r>
            <a:endParaRPr/>
          </a:p>
        </p:txBody>
      </p:sp>
      <p:sp>
        <p:nvSpPr>
          <p:cNvPr id="448" name="Google Shape;448;p11"/>
          <p:cNvSpPr txBox="1"/>
          <p:nvPr/>
        </p:nvSpPr>
        <p:spPr>
          <a:xfrm>
            <a:off x="1033272" y="4672584"/>
            <a:ext cx="4572001" cy="559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Helvetica Neue"/>
              <a:buChar char="–"/>
            </a:pPr>
            <a:r>
              <a:rPr b="0" i="0" lang="en-US" sz="10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does the final keep / remove decision live?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Helvetica Neue"/>
              <a:buChar char="–"/>
            </a:pPr>
            <a:r>
              <a:rPr b="0" i="0" lang="en-US" sz="10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you share historical studies with PM decisions?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Helvetica Neue"/>
              <a:buChar char="–"/>
            </a:pPr>
            <a:r>
              <a:rPr b="0" i="0" lang="en-US" sz="10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confidence is required before recommending exclusion?</a:t>
            </a:r>
            <a:endParaRPr/>
          </a:p>
        </p:txBody>
      </p:sp>
      <p:sp>
        <p:nvSpPr>
          <p:cNvPr id="449" name="Google Shape;449;p11"/>
          <p:cNvSpPr/>
          <p:nvPr/>
        </p:nvSpPr>
        <p:spPr>
          <a:xfrm>
            <a:off x="6355079" y="4069079"/>
            <a:ext cx="5074921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1"/>
          <p:cNvSpPr txBox="1"/>
          <p:nvPr/>
        </p:nvSpPr>
        <p:spPr>
          <a:xfrm>
            <a:off x="6629400" y="4318730"/>
            <a:ext cx="4526280" cy="223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Success metrics</a:t>
            </a:r>
            <a:endParaRPr/>
          </a:p>
        </p:txBody>
      </p:sp>
      <p:sp>
        <p:nvSpPr>
          <p:cNvPr id="451" name="Google Shape;451;p11"/>
          <p:cNvSpPr txBox="1"/>
          <p:nvPr/>
        </p:nvSpPr>
        <p:spPr>
          <a:xfrm>
            <a:off x="6629400" y="4672584"/>
            <a:ext cx="4572000" cy="559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Helvetica Neue"/>
              <a:buChar char="–"/>
            </a:pPr>
            <a:r>
              <a:rPr b="0" i="0" lang="en-US" sz="10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review-time reduction makes the pilot a win?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Helvetica Neue"/>
              <a:buChar char="–"/>
            </a:pPr>
            <a:r>
              <a:rPr b="0" i="0" lang="en-US" sz="10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AI / PM agreement level would build trust?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Helvetica Neue"/>
              <a:buChar char="–"/>
            </a:pPr>
            <a:r>
              <a:rPr b="0" i="0" lang="en-US" sz="10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audit output helps you stand behind quality?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Farnsworth technical overview background 01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F7F5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Farnsworth technical overview background 02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9" name="Farnsworth technical overview background 03"/>
          <p:cNvSpPr>
            <a:spLocks noGrp="1"/>
          </p:cNvSpPr>
          <p:nvPr/>
        </p:nvSpPr>
        <p:spPr>
          <a:xfrm>
            <a:off x="76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Farnsworth technical overview background 04"/>
          <p:cNvSpPr>
            <a:spLocks noGrp="1"/>
          </p:cNvSpPr>
          <p:nvPr/>
        </p:nvSpPr>
        <p:spPr>
          <a:xfrm>
            <a:off x="152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1" name="Farnsworth technical overview background 05"/>
          <p:cNvSpPr>
            <a:spLocks noGrp="1"/>
          </p:cNvSpPr>
          <p:nvPr/>
        </p:nvSpPr>
        <p:spPr>
          <a:xfrm>
            <a:off x="228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Farnsworth technical overview background 06"/>
          <p:cNvSpPr>
            <a:spLocks noGrp="1"/>
          </p:cNvSpPr>
          <p:nvPr/>
        </p:nvSpPr>
        <p:spPr>
          <a:xfrm>
            <a:off x="304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Farnsworth technical overview background 07"/>
          <p:cNvSpPr>
            <a:spLocks noGrp="1"/>
          </p:cNvSpPr>
          <p:nvPr/>
        </p:nvSpPr>
        <p:spPr>
          <a:xfrm>
            <a:off x="381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4" name="Farnsworth technical overview background 08"/>
          <p:cNvSpPr>
            <a:spLocks noGrp="1"/>
          </p:cNvSpPr>
          <p:nvPr/>
        </p:nvSpPr>
        <p:spPr>
          <a:xfrm>
            <a:off x="457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5" name="Farnsworth technical overview background 09"/>
          <p:cNvSpPr>
            <a:spLocks noGrp="1"/>
          </p:cNvSpPr>
          <p:nvPr/>
        </p:nvSpPr>
        <p:spPr>
          <a:xfrm>
            <a:off x="533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6" name="Farnsworth technical overview background 10"/>
          <p:cNvSpPr>
            <a:spLocks noGrp="1"/>
          </p:cNvSpPr>
          <p:nvPr/>
        </p:nvSpPr>
        <p:spPr>
          <a:xfrm>
            <a:off x="609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Farnsworth technical overview background 11"/>
          <p:cNvSpPr>
            <a:spLocks noGrp="1"/>
          </p:cNvSpPr>
          <p:nvPr/>
        </p:nvSpPr>
        <p:spPr>
          <a:xfrm>
            <a:off x="685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8" name="Farnsworth technical overview background 12"/>
          <p:cNvSpPr>
            <a:spLocks noGrp="1"/>
          </p:cNvSpPr>
          <p:nvPr/>
        </p:nvSpPr>
        <p:spPr>
          <a:xfrm>
            <a:off x="762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9" name="Farnsworth technical overview background 13"/>
          <p:cNvSpPr>
            <a:spLocks noGrp="1"/>
          </p:cNvSpPr>
          <p:nvPr/>
        </p:nvSpPr>
        <p:spPr>
          <a:xfrm>
            <a:off x="838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0" name="Farnsworth technical overview background 14"/>
          <p:cNvSpPr>
            <a:spLocks noGrp="1"/>
          </p:cNvSpPr>
          <p:nvPr/>
        </p:nvSpPr>
        <p:spPr>
          <a:xfrm>
            <a:off x="914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1" name="Farnsworth technical overview background 15"/>
          <p:cNvSpPr>
            <a:spLocks noGrp="1"/>
          </p:cNvSpPr>
          <p:nvPr/>
        </p:nvSpPr>
        <p:spPr>
          <a:xfrm>
            <a:off x="990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2" name="Farnsworth technical overview background 16"/>
          <p:cNvSpPr>
            <a:spLocks noGrp="1"/>
          </p:cNvSpPr>
          <p:nvPr/>
        </p:nvSpPr>
        <p:spPr>
          <a:xfrm>
            <a:off x="1066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3" name="Farnsworth technical overview background 17"/>
          <p:cNvSpPr>
            <a:spLocks noGrp="1"/>
          </p:cNvSpPr>
          <p:nvPr/>
        </p:nvSpPr>
        <p:spPr>
          <a:xfrm>
            <a:off x="1143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4" name="Farnsworth technical overview background 18"/>
          <p:cNvSpPr>
            <a:spLocks noGrp="1"/>
          </p:cNvSpPr>
          <p:nvPr/>
        </p:nvSpPr>
        <p:spPr>
          <a:xfrm>
            <a:off x="1219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5" name="Farnsworth technical overview background 19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6" name="Farnsworth technical overview background 20"/>
          <p:cNvSpPr>
            <a:spLocks noGrp="1"/>
          </p:cNvSpPr>
          <p:nvPr/>
        </p:nvSpPr>
        <p:spPr>
          <a:xfrm>
            <a:off x="0" y="76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7" name="Farnsworth technical overview background 21"/>
          <p:cNvSpPr>
            <a:spLocks noGrp="1"/>
          </p:cNvSpPr>
          <p:nvPr/>
        </p:nvSpPr>
        <p:spPr>
          <a:xfrm>
            <a:off x="0" y="152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8" name="Farnsworth technical overview background 22"/>
          <p:cNvSpPr>
            <a:spLocks noGrp="1"/>
          </p:cNvSpPr>
          <p:nvPr/>
        </p:nvSpPr>
        <p:spPr>
          <a:xfrm>
            <a:off x="0" y="228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9" name="Farnsworth technical overview background 23"/>
          <p:cNvSpPr>
            <a:spLocks noGrp="1"/>
          </p:cNvSpPr>
          <p:nvPr/>
        </p:nvSpPr>
        <p:spPr>
          <a:xfrm>
            <a:off x="0" y="304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0" name="Farnsworth technical overview background 24"/>
          <p:cNvSpPr>
            <a:spLocks noGrp="1"/>
          </p:cNvSpPr>
          <p:nvPr/>
        </p:nvSpPr>
        <p:spPr>
          <a:xfrm>
            <a:off x="0" y="3810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1" name="Farnsworth technical overview background 25"/>
          <p:cNvSpPr>
            <a:spLocks noGrp="1"/>
          </p:cNvSpPr>
          <p:nvPr/>
        </p:nvSpPr>
        <p:spPr>
          <a:xfrm>
            <a:off x="0" y="457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2" name="Farnsworth technical overview background 26"/>
          <p:cNvSpPr>
            <a:spLocks noGrp="1"/>
          </p:cNvSpPr>
          <p:nvPr/>
        </p:nvSpPr>
        <p:spPr>
          <a:xfrm>
            <a:off x="0" y="533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3" name="Farnsworth technical overview background 27"/>
          <p:cNvSpPr>
            <a:spLocks noGrp="1"/>
          </p:cNvSpPr>
          <p:nvPr/>
        </p:nvSpPr>
        <p:spPr>
          <a:xfrm>
            <a:off x="0" y="609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4" name="Farnsworth technical overview background 28"/>
          <p:cNvSpPr>
            <a:spLocks noGrp="1"/>
          </p:cNvSpPr>
          <p:nvPr/>
        </p:nvSpPr>
        <p:spPr>
          <a:xfrm>
            <a:off x="0" y="685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491" name="Google Shape;491;p13"/>
          <p:cNvCxnSpPr/>
          <p:nvPr/>
        </p:nvCxnSpPr>
        <p:spPr>
          <a:xfrm flipH="1">
            <a:off x="1354633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2" name="Google Shape;492;p13"/>
          <p:cNvCxnSpPr/>
          <p:nvPr/>
        </p:nvCxnSpPr>
        <p:spPr>
          <a:xfrm flipH="1">
            <a:off x="2709265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3" name="Google Shape;493;p13"/>
          <p:cNvCxnSpPr/>
          <p:nvPr/>
        </p:nvCxnSpPr>
        <p:spPr>
          <a:xfrm flipH="1">
            <a:off x="4063898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13"/>
          <p:cNvCxnSpPr/>
          <p:nvPr/>
        </p:nvCxnSpPr>
        <p:spPr>
          <a:xfrm flipH="1">
            <a:off x="5418530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5" name="Google Shape;495;p13"/>
          <p:cNvCxnSpPr/>
          <p:nvPr/>
        </p:nvCxnSpPr>
        <p:spPr>
          <a:xfrm flipH="1">
            <a:off x="6773164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6" name="Google Shape;496;p13"/>
          <p:cNvCxnSpPr/>
          <p:nvPr/>
        </p:nvCxnSpPr>
        <p:spPr>
          <a:xfrm flipH="1">
            <a:off x="8127796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" name="Google Shape;497;p13"/>
          <p:cNvCxnSpPr/>
          <p:nvPr/>
        </p:nvCxnSpPr>
        <p:spPr>
          <a:xfrm flipH="1">
            <a:off x="9482429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" name="Google Shape;498;p13"/>
          <p:cNvCxnSpPr/>
          <p:nvPr/>
        </p:nvCxnSpPr>
        <p:spPr>
          <a:xfrm flipH="1">
            <a:off x="10837061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13"/>
          <p:cNvCxnSpPr/>
          <p:nvPr/>
        </p:nvCxnSpPr>
        <p:spPr>
          <a:xfrm>
            <a:off x="-1" y="13716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13"/>
          <p:cNvCxnSpPr/>
          <p:nvPr/>
        </p:nvCxnSpPr>
        <p:spPr>
          <a:xfrm>
            <a:off x="-1" y="27432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13"/>
          <p:cNvCxnSpPr/>
          <p:nvPr/>
        </p:nvCxnSpPr>
        <p:spPr>
          <a:xfrm>
            <a:off x="-1" y="41148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13"/>
          <p:cNvCxnSpPr/>
          <p:nvPr/>
        </p:nvCxnSpPr>
        <p:spPr>
          <a:xfrm>
            <a:off x="-1" y="54864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3" name="Google Shape;503;p13"/>
          <p:cNvSpPr txBox="1"/>
          <p:nvPr/>
        </p:nvSpPr>
        <p:spPr>
          <a:xfrm>
            <a:off x="758951" y="366147"/>
            <a:ext cx="7315201" cy="13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POTENTIAL ADD-ONS</a:t>
            </a:r>
            <a:endParaRPr/>
          </a:p>
        </p:txBody>
      </p:sp>
      <p:sp>
        <p:nvSpPr>
          <p:cNvPr id="504" name="Google Shape;504;p13"/>
          <p:cNvSpPr txBox="1"/>
          <p:nvPr/>
        </p:nvSpPr>
        <p:spPr>
          <a:xfrm>
            <a:off x="5943600" y="366090"/>
            <a:ext cx="54864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Helvetica Neue"/>
              <a:buNone/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× FARNSWORTH / 14</a:t>
            </a:r>
            <a:endParaRPr/>
          </a:p>
        </p:txBody>
      </p:sp>
      <p:sp>
        <p:nvSpPr>
          <p:cNvPr id="505" name="Google Shape;505;p13"/>
          <p:cNvSpPr txBox="1"/>
          <p:nvPr/>
        </p:nvSpPr>
        <p:spPr>
          <a:xfrm>
            <a:off x="758952" y="932688"/>
            <a:ext cx="10671048" cy="4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this can go after the pilot proves value.</a:t>
            </a:r>
            <a:endParaRPr/>
          </a:p>
        </p:txBody>
      </p:sp>
      <p:sp>
        <p:nvSpPr>
          <p:cNvPr id="506" name="Google Shape;506;p13"/>
          <p:cNvSpPr/>
          <p:nvPr/>
        </p:nvSpPr>
        <p:spPr>
          <a:xfrm>
            <a:off x="758951" y="2331720"/>
            <a:ext cx="1710111" cy="45721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3"/>
          <p:cNvSpPr txBox="1"/>
          <p:nvPr/>
        </p:nvSpPr>
        <p:spPr>
          <a:xfrm>
            <a:off x="758951" y="2577401"/>
            <a:ext cx="1900124" cy="1487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/>
          </a:p>
        </p:txBody>
      </p:sp>
      <p:sp>
        <p:nvSpPr>
          <p:cNvPr id="508" name="Google Shape;508;p13"/>
          <p:cNvSpPr txBox="1"/>
          <p:nvPr/>
        </p:nvSpPr>
        <p:spPr>
          <a:xfrm>
            <a:off x="758951" y="2825495"/>
            <a:ext cx="1900124" cy="2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Pre-field intake review</a:t>
            </a:r>
            <a:endParaRPr/>
          </a:p>
        </p:txBody>
      </p:sp>
      <p:sp>
        <p:nvSpPr>
          <p:cNvPr id="509" name="Google Shape;509;p13"/>
          <p:cNvSpPr txBox="1"/>
          <p:nvPr/>
        </p:nvSpPr>
        <p:spPr>
          <a:xfrm>
            <a:off x="758951" y="3657599"/>
            <a:ext cx="1900124" cy="68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Questionnaire review → better screeners and fewer low-quality completes before fielding.</a:t>
            </a:r>
            <a:endParaRPr/>
          </a:p>
        </p:txBody>
      </p:sp>
      <p:sp>
        <p:nvSpPr>
          <p:cNvPr id="510" name="Google Shape;510;p13"/>
          <p:cNvSpPr/>
          <p:nvPr/>
        </p:nvSpPr>
        <p:spPr>
          <a:xfrm>
            <a:off x="2951683" y="2331720"/>
            <a:ext cx="1710110" cy="45721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3"/>
          <p:cNvSpPr txBox="1"/>
          <p:nvPr/>
        </p:nvSpPr>
        <p:spPr>
          <a:xfrm>
            <a:off x="2951683" y="2577401"/>
            <a:ext cx="1900123" cy="1487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/>
          </a:p>
        </p:txBody>
      </p:sp>
      <p:sp>
        <p:nvSpPr>
          <p:cNvPr id="512" name="Google Shape;512;p13"/>
          <p:cNvSpPr txBox="1"/>
          <p:nvPr/>
        </p:nvSpPr>
        <p:spPr>
          <a:xfrm>
            <a:off x="2951683" y="2825495"/>
            <a:ext cx="1900123" cy="2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Respondent friction</a:t>
            </a:r>
            <a:endParaRPr/>
          </a:p>
        </p:txBody>
      </p:sp>
      <p:sp>
        <p:nvSpPr>
          <p:cNvPr id="513" name="Google Shape;513;p13"/>
          <p:cNvSpPr txBox="1"/>
          <p:nvPr/>
        </p:nvSpPr>
        <p:spPr>
          <a:xfrm>
            <a:off x="2951683" y="3657599"/>
            <a:ext cx="1900123" cy="514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Friction signals → reduce design-induced straight-lining, speeding, and fatigue.</a:t>
            </a:r>
            <a:endParaRPr/>
          </a:p>
        </p:txBody>
      </p:sp>
      <p:sp>
        <p:nvSpPr>
          <p:cNvPr id="514" name="Google Shape;514;p13"/>
          <p:cNvSpPr/>
          <p:nvPr/>
        </p:nvSpPr>
        <p:spPr>
          <a:xfrm>
            <a:off x="5144413" y="2331720"/>
            <a:ext cx="1710111" cy="45721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3"/>
          <p:cNvSpPr txBox="1"/>
          <p:nvPr/>
        </p:nvSpPr>
        <p:spPr>
          <a:xfrm>
            <a:off x="5144413" y="2577401"/>
            <a:ext cx="1900124" cy="1487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/>
          </a:p>
        </p:txBody>
      </p:sp>
      <p:sp>
        <p:nvSpPr>
          <p:cNvPr id="516" name="Google Shape;516;p13"/>
          <p:cNvSpPr txBox="1"/>
          <p:nvPr/>
        </p:nvSpPr>
        <p:spPr>
          <a:xfrm>
            <a:off x="5144413" y="2825495"/>
            <a:ext cx="1900124" cy="2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Decipher integration</a:t>
            </a:r>
            <a:endParaRPr/>
          </a:p>
        </p:txBody>
      </p:sp>
      <p:sp>
        <p:nvSpPr>
          <p:cNvPr id="517" name="Google Shape;517;p13"/>
          <p:cNvSpPr txBox="1"/>
          <p:nvPr/>
        </p:nvSpPr>
        <p:spPr>
          <a:xfrm>
            <a:off x="5144413" y="3657599"/>
            <a:ext cx="1900124" cy="514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Scheduled Decipher monitoring → automated interim review during fielding.</a:t>
            </a:r>
            <a:endParaRPr/>
          </a:p>
        </p:txBody>
      </p:sp>
      <p:sp>
        <p:nvSpPr>
          <p:cNvPr id="518" name="Google Shape;518;p13"/>
          <p:cNvSpPr/>
          <p:nvPr/>
        </p:nvSpPr>
        <p:spPr>
          <a:xfrm>
            <a:off x="7337145" y="2331720"/>
            <a:ext cx="1710111" cy="45721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3"/>
          <p:cNvSpPr txBox="1"/>
          <p:nvPr/>
        </p:nvSpPr>
        <p:spPr>
          <a:xfrm>
            <a:off x="7337145" y="2577401"/>
            <a:ext cx="1900124" cy="1487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/>
          </a:p>
        </p:txBody>
      </p:sp>
      <p:sp>
        <p:nvSpPr>
          <p:cNvPr id="520" name="Google Shape;520;p13"/>
          <p:cNvSpPr txBox="1"/>
          <p:nvPr/>
        </p:nvSpPr>
        <p:spPr>
          <a:xfrm>
            <a:off x="7337145" y="2825495"/>
            <a:ext cx="1900124" cy="2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Client-facing QA</a:t>
            </a:r>
            <a:endParaRPr/>
          </a:p>
        </p:txBody>
      </p:sp>
      <p:sp>
        <p:nvSpPr>
          <p:cNvPr id="521" name="Google Shape;521;p13"/>
          <p:cNvSpPr txBox="1"/>
          <p:nvPr/>
        </p:nvSpPr>
        <p:spPr>
          <a:xfrm>
            <a:off x="7337145" y="3657599"/>
            <a:ext cx="1900124" cy="514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Client-facing QA summaries → make quality assurance a sales advantage.</a:t>
            </a:r>
            <a:endParaRPr/>
          </a:p>
        </p:txBody>
      </p:sp>
      <p:sp>
        <p:nvSpPr>
          <p:cNvPr id="522" name="Google Shape;522;p13"/>
          <p:cNvSpPr/>
          <p:nvPr/>
        </p:nvSpPr>
        <p:spPr>
          <a:xfrm>
            <a:off x="9529877" y="2331720"/>
            <a:ext cx="1710111" cy="45721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3"/>
          <p:cNvSpPr txBox="1"/>
          <p:nvPr/>
        </p:nvSpPr>
        <p:spPr>
          <a:xfrm>
            <a:off x="9529877" y="2577401"/>
            <a:ext cx="1900124" cy="1487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05</a:t>
            </a:r>
            <a:endParaRPr/>
          </a:p>
        </p:txBody>
      </p:sp>
      <p:sp>
        <p:nvSpPr>
          <p:cNvPr id="524" name="Google Shape;524;p13"/>
          <p:cNvSpPr txBox="1"/>
          <p:nvPr/>
        </p:nvSpPr>
        <p:spPr>
          <a:xfrm>
            <a:off x="9529877" y="2825495"/>
            <a:ext cx="1900124" cy="2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Automated report QA</a:t>
            </a:r>
            <a:endParaRPr/>
          </a:p>
        </p:txBody>
      </p:sp>
      <p:sp>
        <p:nvSpPr>
          <p:cNvPr id="525" name="Google Shape;525;p13"/>
          <p:cNvSpPr txBox="1"/>
          <p:nvPr/>
        </p:nvSpPr>
        <p:spPr>
          <a:xfrm>
            <a:off x="9529877" y="3657599"/>
            <a:ext cx="1900124" cy="514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Automated report QA → cut unsupported claims before they reach clients.</a:t>
            </a:r>
            <a:endParaRPr/>
          </a:p>
        </p:txBody>
      </p:sp>
      <p:sp>
        <p:nvSpPr>
          <p:cNvPr id="526" name="Google Shape;526;p13"/>
          <p:cNvSpPr txBox="1"/>
          <p:nvPr/>
        </p:nvSpPr>
        <p:spPr>
          <a:xfrm>
            <a:off x="758952" y="5714999"/>
            <a:ext cx="10671048" cy="173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Extend the workflow upstream into intake quality and downstream into reporting: more outcomes, explored only after the pilot earns it.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Farnsworth technical overview background 01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F7F5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Farnsworth technical overview background 02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Farnsworth technical overview background 03"/>
          <p:cNvSpPr>
            <a:spLocks noGrp="1"/>
          </p:cNvSpPr>
          <p:nvPr/>
        </p:nvSpPr>
        <p:spPr>
          <a:xfrm>
            <a:off x="76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Farnsworth technical overview background 04"/>
          <p:cNvSpPr>
            <a:spLocks noGrp="1"/>
          </p:cNvSpPr>
          <p:nvPr/>
        </p:nvSpPr>
        <p:spPr>
          <a:xfrm>
            <a:off x="152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Farnsworth technical overview background 05"/>
          <p:cNvSpPr>
            <a:spLocks noGrp="1"/>
          </p:cNvSpPr>
          <p:nvPr/>
        </p:nvSpPr>
        <p:spPr>
          <a:xfrm>
            <a:off x="228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Farnsworth technical overview background 06"/>
          <p:cNvSpPr>
            <a:spLocks noGrp="1"/>
          </p:cNvSpPr>
          <p:nvPr/>
        </p:nvSpPr>
        <p:spPr>
          <a:xfrm>
            <a:off x="304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Farnsworth technical overview background 07"/>
          <p:cNvSpPr>
            <a:spLocks noGrp="1"/>
          </p:cNvSpPr>
          <p:nvPr/>
        </p:nvSpPr>
        <p:spPr>
          <a:xfrm>
            <a:off x="381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Farnsworth technical overview background 08"/>
          <p:cNvSpPr>
            <a:spLocks noGrp="1"/>
          </p:cNvSpPr>
          <p:nvPr/>
        </p:nvSpPr>
        <p:spPr>
          <a:xfrm>
            <a:off x="457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Farnsworth technical overview background 09"/>
          <p:cNvSpPr>
            <a:spLocks noGrp="1"/>
          </p:cNvSpPr>
          <p:nvPr/>
        </p:nvSpPr>
        <p:spPr>
          <a:xfrm>
            <a:off x="533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Farnsworth technical overview background 10"/>
          <p:cNvSpPr>
            <a:spLocks noGrp="1"/>
          </p:cNvSpPr>
          <p:nvPr/>
        </p:nvSpPr>
        <p:spPr>
          <a:xfrm>
            <a:off x="609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Farnsworth technical overview background 11"/>
          <p:cNvSpPr>
            <a:spLocks noGrp="1"/>
          </p:cNvSpPr>
          <p:nvPr/>
        </p:nvSpPr>
        <p:spPr>
          <a:xfrm>
            <a:off x="685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Farnsworth technical overview background 12"/>
          <p:cNvSpPr>
            <a:spLocks noGrp="1"/>
          </p:cNvSpPr>
          <p:nvPr/>
        </p:nvSpPr>
        <p:spPr>
          <a:xfrm>
            <a:off x="762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Farnsworth technical overview background 13"/>
          <p:cNvSpPr>
            <a:spLocks noGrp="1"/>
          </p:cNvSpPr>
          <p:nvPr/>
        </p:nvSpPr>
        <p:spPr>
          <a:xfrm>
            <a:off x="838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Farnsworth technical overview background 14"/>
          <p:cNvSpPr>
            <a:spLocks noGrp="1"/>
          </p:cNvSpPr>
          <p:nvPr/>
        </p:nvSpPr>
        <p:spPr>
          <a:xfrm>
            <a:off x="9144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0" name="Farnsworth technical overview background 15"/>
          <p:cNvSpPr>
            <a:spLocks noGrp="1"/>
          </p:cNvSpPr>
          <p:nvPr/>
        </p:nvSpPr>
        <p:spPr>
          <a:xfrm>
            <a:off x="9906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1" name="Farnsworth technical overview background 16"/>
          <p:cNvSpPr>
            <a:spLocks noGrp="1"/>
          </p:cNvSpPr>
          <p:nvPr/>
        </p:nvSpPr>
        <p:spPr>
          <a:xfrm>
            <a:off x="10668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Farnsworth technical overview background 17"/>
          <p:cNvSpPr>
            <a:spLocks noGrp="1"/>
          </p:cNvSpPr>
          <p:nvPr/>
        </p:nvSpPr>
        <p:spPr>
          <a:xfrm>
            <a:off x="11430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3" name="Farnsworth technical overview background 18"/>
          <p:cNvSpPr>
            <a:spLocks noGrp="1"/>
          </p:cNvSpPr>
          <p:nvPr/>
        </p:nvSpPr>
        <p:spPr>
          <a:xfrm>
            <a:off x="1219200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Farnsworth technical overview background 19"/>
          <p:cNvSpPr>
            <a:spLocks noGrp="1"/>
          </p:cNvSpPr>
          <p:nvPr/>
        </p:nvSpPr>
        <p:spPr>
          <a:xfrm>
            <a:off x="0" y="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5" name="Farnsworth technical overview background 20"/>
          <p:cNvSpPr>
            <a:spLocks noGrp="1"/>
          </p:cNvSpPr>
          <p:nvPr/>
        </p:nvSpPr>
        <p:spPr>
          <a:xfrm>
            <a:off x="0" y="76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Farnsworth technical overview background 21"/>
          <p:cNvSpPr>
            <a:spLocks noGrp="1"/>
          </p:cNvSpPr>
          <p:nvPr/>
        </p:nvSpPr>
        <p:spPr>
          <a:xfrm>
            <a:off x="0" y="152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Farnsworth technical overview background 22"/>
          <p:cNvSpPr>
            <a:spLocks noGrp="1"/>
          </p:cNvSpPr>
          <p:nvPr/>
        </p:nvSpPr>
        <p:spPr>
          <a:xfrm>
            <a:off x="0" y="228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Farnsworth technical overview background 23"/>
          <p:cNvSpPr>
            <a:spLocks noGrp="1"/>
          </p:cNvSpPr>
          <p:nvPr/>
        </p:nvSpPr>
        <p:spPr>
          <a:xfrm>
            <a:off x="0" y="304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9" name="Farnsworth technical overview background 24"/>
          <p:cNvSpPr>
            <a:spLocks noGrp="1"/>
          </p:cNvSpPr>
          <p:nvPr/>
        </p:nvSpPr>
        <p:spPr>
          <a:xfrm>
            <a:off x="0" y="3810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Farnsworth technical overview background 25"/>
          <p:cNvSpPr>
            <a:spLocks noGrp="1"/>
          </p:cNvSpPr>
          <p:nvPr/>
        </p:nvSpPr>
        <p:spPr>
          <a:xfrm>
            <a:off x="0" y="4572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Farnsworth technical overview background 26"/>
          <p:cNvSpPr>
            <a:spLocks noGrp="1"/>
          </p:cNvSpPr>
          <p:nvPr/>
        </p:nvSpPr>
        <p:spPr>
          <a:xfrm>
            <a:off x="0" y="5334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2" name="Farnsworth technical overview background 27"/>
          <p:cNvSpPr>
            <a:spLocks noGrp="1"/>
          </p:cNvSpPr>
          <p:nvPr/>
        </p:nvSpPr>
        <p:spPr>
          <a:xfrm>
            <a:off x="0" y="6096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Farnsworth technical overview background 28"/>
          <p:cNvSpPr>
            <a:spLocks noGrp="1"/>
          </p:cNvSpPr>
          <p:nvPr/>
        </p:nvSpPr>
        <p:spPr>
          <a:xfrm>
            <a:off x="0" y="6858000"/>
          </a:xfrm>
          <a:prstGeom prst="rect">
            <a:avLst/>
          </a:prstGeom>
          <a:solidFill>
            <a:srgbClr val="E8E2D6">
              <a:alpha val="40000"/>
            </a:srgbClr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456" name="Google Shape;456;p12"/>
          <p:cNvCxnSpPr/>
          <p:nvPr/>
        </p:nvCxnSpPr>
        <p:spPr>
          <a:xfrm flipH="1">
            <a:off x="1354633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7" name="Google Shape;457;p12"/>
          <p:cNvCxnSpPr/>
          <p:nvPr/>
        </p:nvCxnSpPr>
        <p:spPr>
          <a:xfrm flipH="1">
            <a:off x="2709265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8" name="Google Shape;458;p12"/>
          <p:cNvCxnSpPr/>
          <p:nvPr/>
        </p:nvCxnSpPr>
        <p:spPr>
          <a:xfrm flipH="1">
            <a:off x="4063898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" name="Google Shape;459;p12"/>
          <p:cNvCxnSpPr/>
          <p:nvPr/>
        </p:nvCxnSpPr>
        <p:spPr>
          <a:xfrm flipH="1">
            <a:off x="5418530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p12"/>
          <p:cNvCxnSpPr/>
          <p:nvPr/>
        </p:nvCxnSpPr>
        <p:spPr>
          <a:xfrm flipH="1">
            <a:off x="6773164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" name="Google Shape;461;p12"/>
          <p:cNvCxnSpPr/>
          <p:nvPr/>
        </p:nvCxnSpPr>
        <p:spPr>
          <a:xfrm flipH="1">
            <a:off x="8127796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p12"/>
          <p:cNvCxnSpPr/>
          <p:nvPr/>
        </p:nvCxnSpPr>
        <p:spPr>
          <a:xfrm flipH="1">
            <a:off x="9482429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p12"/>
          <p:cNvCxnSpPr/>
          <p:nvPr/>
        </p:nvCxnSpPr>
        <p:spPr>
          <a:xfrm flipH="1">
            <a:off x="10837061" y="0"/>
            <a:ext cx="1" cy="685800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12"/>
          <p:cNvCxnSpPr/>
          <p:nvPr/>
        </p:nvCxnSpPr>
        <p:spPr>
          <a:xfrm>
            <a:off x="-1" y="13716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12"/>
          <p:cNvCxnSpPr/>
          <p:nvPr/>
        </p:nvCxnSpPr>
        <p:spPr>
          <a:xfrm>
            <a:off x="-1" y="27432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12"/>
          <p:cNvCxnSpPr/>
          <p:nvPr/>
        </p:nvCxnSpPr>
        <p:spPr>
          <a:xfrm>
            <a:off x="-1" y="41148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12"/>
          <p:cNvCxnSpPr/>
          <p:nvPr/>
        </p:nvCxnSpPr>
        <p:spPr>
          <a:xfrm>
            <a:off x="-1" y="5486400"/>
            <a:ext cx="12191697" cy="0"/>
          </a:xfrm>
          <a:prstGeom prst="straightConnector1">
            <a:avLst/>
          </a:prstGeom>
          <a:noFill/>
          <a:ln cap="flat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12"/>
          <p:cNvSpPr txBox="1"/>
          <p:nvPr/>
        </p:nvSpPr>
        <p:spPr>
          <a:xfrm>
            <a:off x="758951" y="366147"/>
            <a:ext cx="7315201" cy="13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COMMITMENT &amp; NEXT STEPS</a:t>
            </a:r>
            <a:endParaRPr/>
          </a:p>
        </p:txBody>
      </p:sp>
      <p:sp>
        <p:nvSpPr>
          <p:cNvPr id="469" name="Google Shape;469;p12"/>
          <p:cNvSpPr txBox="1"/>
          <p:nvPr/>
        </p:nvSpPr>
        <p:spPr>
          <a:xfrm>
            <a:off x="5943600" y="366090"/>
            <a:ext cx="54864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Helvetica Neue"/>
              <a:buNone/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× FARNSWORTH / 15</a:t>
            </a:r>
            <a:endParaRPr/>
          </a:p>
        </p:txBody>
      </p:sp>
      <p:sp>
        <p:nvSpPr>
          <p:cNvPr id="470" name="Google Shape;470;p12"/>
          <p:cNvSpPr txBox="1"/>
          <p:nvPr/>
        </p:nvSpPr>
        <p:spPr>
          <a:xfrm>
            <a:off x="758952" y="932688"/>
            <a:ext cx="10671048" cy="4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we need from you to launch the pilot.</a:t>
            </a:r>
            <a:endParaRPr/>
          </a:p>
        </p:txBody>
      </p:sp>
      <p:sp>
        <p:nvSpPr>
          <p:cNvPr id="471" name="Google Shape;471;p12"/>
          <p:cNvSpPr txBox="1"/>
          <p:nvPr/>
        </p:nvSpPr>
        <p:spPr>
          <a:xfrm>
            <a:off x="758951" y="2148839"/>
            <a:ext cx="274321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endParaRPr/>
          </a:p>
        </p:txBody>
      </p:sp>
      <p:sp>
        <p:nvSpPr>
          <p:cNvPr id="472" name="Google Shape;472;p12"/>
          <p:cNvSpPr txBox="1"/>
          <p:nvPr/>
        </p:nvSpPr>
        <p:spPr>
          <a:xfrm>
            <a:off x="1069847" y="2148839"/>
            <a:ext cx="6400801" cy="185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Pursue a focused pilot around PM review reduction.</a:t>
            </a:r>
            <a:endParaRPr/>
          </a:p>
        </p:txBody>
      </p:sp>
      <p:sp>
        <p:nvSpPr>
          <p:cNvPr id="473" name="Google Shape;473;p12"/>
          <p:cNvSpPr txBox="1"/>
          <p:nvPr/>
        </p:nvSpPr>
        <p:spPr>
          <a:xfrm>
            <a:off x="758951" y="2715767"/>
            <a:ext cx="274321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endParaRPr/>
          </a:p>
        </p:txBody>
      </p:sp>
      <p:sp>
        <p:nvSpPr>
          <p:cNvPr id="474" name="Google Shape;474;p12"/>
          <p:cNvSpPr txBox="1"/>
          <p:nvPr/>
        </p:nvSpPr>
        <p:spPr>
          <a:xfrm>
            <a:off x="1069847" y="2715767"/>
            <a:ext cx="6400801" cy="185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Provide representative Decipher exports and datamaps.</a:t>
            </a:r>
            <a:endParaRPr/>
          </a:p>
        </p:txBody>
      </p:sp>
      <p:sp>
        <p:nvSpPr>
          <p:cNvPr id="475" name="Google Shape;475;p12"/>
          <p:cNvSpPr txBox="1"/>
          <p:nvPr/>
        </p:nvSpPr>
        <p:spPr>
          <a:xfrm>
            <a:off x="758951" y="3282696"/>
            <a:ext cx="274321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endParaRPr/>
          </a:p>
        </p:txBody>
      </p:sp>
      <p:sp>
        <p:nvSpPr>
          <p:cNvPr id="476" name="Google Shape;476;p12"/>
          <p:cNvSpPr txBox="1"/>
          <p:nvPr/>
        </p:nvSpPr>
        <p:spPr>
          <a:xfrm>
            <a:off x="1069847" y="3282696"/>
            <a:ext cx="6400801" cy="1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 final PM keep / remove decisions, or help build a gold-standard set.</a:t>
            </a:r>
            <a:endParaRPr/>
          </a:p>
        </p:txBody>
      </p:sp>
      <p:sp>
        <p:nvSpPr>
          <p:cNvPr id="477" name="Google Shape;477;p12"/>
          <p:cNvSpPr txBox="1"/>
          <p:nvPr/>
        </p:nvSpPr>
        <p:spPr>
          <a:xfrm>
            <a:off x="758951" y="3849623"/>
            <a:ext cx="274321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endParaRPr/>
          </a:p>
        </p:txBody>
      </p:sp>
      <p:sp>
        <p:nvSpPr>
          <p:cNvPr id="478" name="Google Shape;478;p12"/>
          <p:cNvSpPr txBox="1"/>
          <p:nvPr/>
        </p:nvSpPr>
        <p:spPr>
          <a:xfrm>
            <a:off x="1069847" y="3849623"/>
            <a:ext cx="6400801" cy="185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Identify one to three PMs to test the workflow.</a:t>
            </a:r>
            <a:endParaRPr/>
          </a:p>
        </p:txBody>
      </p:sp>
      <p:sp>
        <p:nvSpPr>
          <p:cNvPr id="479" name="Google Shape;479;p12"/>
          <p:cNvSpPr txBox="1"/>
          <p:nvPr/>
        </p:nvSpPr>
        <p:spPr>
          <a:xfrm>
            <a:off x="758951" y="4416552"/>
            <a:ext cx="274321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endParaRPr/>
          </a:p>
        </p:txBody>
      </p:sp>
      <p:sp>
        <p:nvSpPr>
          <p:cNvPr id="480" name="Google Shape;480;p12"/>
          <p:cNvSpPr txBox="1"/>
          <p:nvPr/>
        </p:nvSpPr>
        <p:spPr>
          <a:xfrm>
            <a:off x="1069847" y="4416552"/>
            <a:ext cx="6400801" cy="1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Agree on pilot success metrics before the build begins.</a:t>
            </a:r>
            <a:endParaRPr/>
          </a:p>
        </p:txBody>
      </p:sp>
      <p:sp>
        <p:nvSpPr>
          <p:cNvPr id="481" name="Google Shape;481;p12"/>
          <p:cNvSpPr txBox="1"/>
          <p:nvPr/>
        </p:nvSpPr>
        <p:spPr>
          <a:xfrm>
            <a:off x="758951" y="4983479"/>
            <a:ext cx="274321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endParaRPr/>
          </a:p>
        </p:txBody>
      </p:sp>
      <p:sp>
        <p:nvSpPr>
          <p:cNvPr id="482" name="Google Shape;482;p12"/>
          <p:cNvSpPr txBox="1"/>
          <p:nvPr/>
        </p:nvSpPr>
        <p:spPr>
          <a:xfrm>
            <a:off x="1069847" y="4983479"/>
            <a:ext cx="6400801" cy="185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1C1C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Stay open to a phased rollout if the pilot proves out.</a:t>
            </a: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7818119" y="2103120"/>
            <a:ext cx="3611881" cy="36576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2"/>
          <p:cNvSpPr txBox="1"/>
          <p:nvPr/>
        </p:nvSpPr>
        <p:spPr>
          <a:xfrm>
            <a:off x="8092440" y="2428119"/>
            <a:ext cx="3063241" cy="136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Helvetica Neue"/>
              <a:buNone/>
            </a:pPr>
            <a:r>
              <a:rPr sz="800" b="1">
                <a:solidFill>
                  <a:srgbClr val="0A0A0A"/>
                </a:solidFill>
                <a:latin typeface="Helvetica Neue"/>
              </a:rPr>
              <a:t>THE OUTCOME</a:t>
            </a:r>
            <a:endParaRPr/>
          </a:p>
        </p:txBody>
      </p:sp>
      <p:sp>
        <p:nvSpPr>
          <p:cNvPr id="485" name="Google Shape;485;p12"/>
          <p:cNvSpPr txBox="1"/>
          <p:nvPr/>
        </p:nvSpPr>
        <p:spPr>
          <a:xfrm>
            <a:off x="8092440" y="2761488"/>
            <a:ext cx="3063241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Helvetica Neue"/>
              <a:buNone/>
            </a:pPr>
            <a:r>
              <a:rPr sz="1520" b="1">
                <a:solidFill>
                  <a:srgbClr val="0A0A0A"/>
                </a:solidFill>
                <a:latin typeface="Helvetica Neue"/>
              </a:rPr>
              <a:t>Internally: less operational effort and a workflow every PM actually adopts.</a:t>
            </a:r>
            <a:endParaRPr/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520" b="1">
                <a:solidFill>
                  <a:srgbClr val="0A0A0A"/>
                </a:solidFill>
                <a:latin typeface="Helvetica Neue"/>
              </a:rPr>
              <a:t>Externally: data quality you can stand behind as a differentiator — not just clean data, but defensible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